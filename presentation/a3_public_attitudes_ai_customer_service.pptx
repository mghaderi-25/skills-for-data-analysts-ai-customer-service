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6"/>
  </p:notesMasterIdLst>
  <p:sldIdLst>
    <p:sldId id="258" r:id="rId2"/>
    <p:sldId id="257" r:id="rId3"/>
    <p:sldId id="264" r:id="rId4"/>
    <p:sldId id="265" r:id="rId5"/>
    <p:sldId id="269" r:id="rId6"/>
    <p:sldId id="270" r:id="rId7"/>
    <p:sldId id="273" r:id="rId8"/>
    <p:sldId id="274" r:id="rId9"/>
    <p:sldId id="275" r:id="rId10"/>
    <p:sldId id="276" r:id="rId11"/>
    <p:sldId id="280" r:id="rId12"/>
    <p:sldId id="279" r:id="rId13"/>
    <p:sldId id="278" r:id="rId14"/>
    <p:sldId id="28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7132"/>
    <a:srgbClr val="C6EA94"/>
    <a:srgbClr val="F85E22"/>
    <a:srgbClr val="F56720"/>
    <a:srgbClr val="212831"/>
    <a:srgbClr val="F78C87"/>
    <a:srgbClr val="4D85C9"/>
    <a:srgbClr val="FED1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60" autoAdjust="0"/>
    <p:restoredTop sz="94660"/>
  </p:normalViewPr>
  <p:slideViewPr>
    <p:cSldViewPr snapToGrid="0">
      <p:cViewPr varScale="1">
        <p:scale>
          <a:sx n="82" d="100"/>
          <a:sy n="82" d="100"/>
        </p:scale>
        <p:origin x="87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F8F6FF-BD45-43A9-9AC4-A73D4DBD26B2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BA2B114-A3A8-4093-BCC2-A003D83D99ED}">
      <dgm:prSet/>
      <dgm:spPr/>
      <dgm:t>
        <a:bodyPr/>
        <a:lstStyle/>
        <a:p>
          <a:r>
            <a:rPr lang="en-US"/>
            <a:t>Online survey, </a:t>
          </a:r>
          <a:r>
            <a:rPr lang="en-US" b="1"/>
            <a:t>n = 63</a:t>
          </a:r>
          <a:r>
            <a:rPr lang="en-US"/>
            <a:t> respondents.</a:t>
          </a:r>
        </a:p>
      </dgm:t>
    </dgm:pt>
    <dgm:pt modelId="{A6F534FA-216D-4055-B4F8-AE614895E55E}" type="parTrans" cxnId="{1AC0BB95-B90D-476C-864C-B4B7D14AD0A1}">
      <dgm:prSet/>
      <dgm:spPr/>
      <dgm:t>
        <a:bodyPr/>
        <a:lstStyle/>
        <a:p>
          <a:endParaRPr lang="en-US"/>
        </a:p>
      </dgm:t>
    </dgm:pt>
    <dgm:pt modelId="{61A44A7E-7EC4-49C8-8ACC-0C10B45E6E01}" type="sibTrans" cxnId="{1AC0BB95-B90D-476C-864C-B4B7D14AD0A1}">
      <dgm:prSet/>
      <dgm:spPr/>
      <dgm:t>
        <a:bodyPr/>
        <a:lstStyle/>
        <a:p>
          <a:endParaRPr lang="en-US"/>
        </a:p>
      </dgm:t>
    </dgm:pt>
    <dgm:pt modelId="{82EFBB86-DA5D-4D8F-8AC4-C7EA09370BFC}">
      <dgm:prSet/>
      <dgm:spPr/>
      <dgm:t>
        <a:bodyPr/>
        <a:lstStyle/>
        <a:p>
          <a:r>
            <a:rPr lang="en-US"/>
            <a:t>5 constructs (5-point Likert: 1 = Strongly Disagree, 5 = Strongly Agree):</a:t>
          </a:r>
        </a:p>
      </dgm:t>
    </dgm:pt>
    <dgm:pt modelId="{B9B1723C-B612-40E1-A6CD-5DB44FFE4010}" type="parTrans" cxnId="{C4ADAC9E-25E5-4AC1-962E-9F2C43871910}">
      <dgm:prSet/>
      <dgm:spPr/>
      <dgm:t>
        <a:bodyPr/>
        <a:lstStyle/>
        <a:p>
          <a:endParaRPr lang="en-US"/>
        </a:p>
      </dgm:t>
    </dgm:pt>
    <dgm:pt modelId="{504910F6-DCE2-415A-B268-67BF477B77B6}" type="sibTrans" cxnId="{C4ADAC9E-25E5-4AC1-962E-9F2C43871910}">
      <dgm:prSet/>
      <dgm:spPr/>
      <dgm:t>
        <a:bodyPr/>
        <a:lstStyle/>
        <a:p>
          <a:endParaRPr lang="en-US"/>
        </a:p>
      </dgm:t>
    </dgm:pt>
    <dgm:pt modelId="{6CB41D5E-69F1-401E-94BA-B93918E3BBCA}">
      <dgm:prSet/>
      <dgm:spPr/>
      <dgm:t>
        <a:bodyPr/>
        <a:lstStyle/>
        <a:p>
          <a:r>
            <a:rPr lang="en-US"/>
            <a:t>Helpfulness (Q4–Q8)</a:t>
          </a:r>
        </a:p>
      </dgm:t>
    </dgm:pt>
    <dgm:pt modelId="{F48F8163-7D6B-41CF-987D-21D927CF402D}" type="parTrans" cxnId="{A96F82D1-0F46-4A12-8E02-BF8CB60D9AA9}">
      <dgm:prSet/>
      <dgm:spPr/>
      <dgm:t>
        <a:bodyPr/>
        <a:lstStyle/>
        <a:p>
          <a:endParaRPr lang="en-US"/>
        </a:p>
      </dgm:t>
    </dgm:pt>
    <dgm:pt modelId="{19CAF6D7-9E75-46B2-A5B4-F2B1578FBBE4}" type="sibTrans" cxnId="{A96F82D1-0F46-4A12-8E02-BF8CB60D9AA9}">
      <dgm:prSet/>
      <dgm:spPr/>
      <dgm:t>
        <a:bodyPr/>
        <a:lstStyle/>
        <a:p>
          <a:endParaRPr lang="en-US"/>
        </a:p>
      </dgm:t>
    </dgm:pt>
    <dgm:pt modelId="{3249C8E3-A676-4365-A9A1-E6F294F54816}">
      <dgm:prSet/>
      <dgm:spPr/>
      <dgm:t>
        <a:bodyPr/>
        <a:lstStyle/>
        <a:p>
          <a:r>
            <a:rPr lang="en-US"/>
            <a:t>Convenience (Q9–Q13)</a:t>
          </a:r>
        </a:p>
      </dgm:t>
    </dgm:pt>
    <dgm:pt modelId="{36747B71-C629-4012-B0EE-E2129C0465E3}" type="parTrans" cxnId="{D91D1F34-F854-49C7-89EA-4FB69EF986E9}">
      <dgm:prSet/>
      <dgm:spPr/>
      <dgm:t>
        <a:bodyPr/>
        <a:lstStyle/>
        <a:p>
          <a:endParaRPr lang="en-US"/>
        </a:p>
      </dgm:t>
    </dgm:pt>
    <dgm:pt modelId="{AD6AB26F-F1B0-4FEB-AB87-568784837940}" type="sibTrans" cxnId="{D91D1F34-F854-49C7-89EA-4FB69EF986E9}">
      <dgm:prSet/>
      <dgm:spPr/>
      <dgm:t>
        <a:bodyPr/>
        <a:lstStyle/>
        <a:p>
          <a:endParaRPr lang="en-US"/>
        </a:p>
      </dgm:t>
    </dgm:pt>
    <dgm:pt modelId="{F6CE80A4-F2E5-4158-86AB-4B00CF5A9D60}">
      <dgm:prSet/>
      <dgm:spPr/>
      <dgm:t>
        <a:bodyPr/>
        <a:lstStyle/>
        <a:p>
          <a:r>
            <a:rPr lang="en-US"/>
            <a:t>Trust (Q14–Q18)</a:t>
          </a:r>
        </a:p>
      </dgm:t>
    </dgm:pt>
    <dgm:pt modelId="{D241C47E-F0BA-47E7-B962-7DBB68CDF214}" type="parTrans" cxnId="{81ADCD62-C03B-4C2B-ABC6-DCAD572940DE}">
      <dgm:prSet/>
      <dgm:spPr/>
      <dgm:t>
        <a:bodyPr/>
        <a:lstStyle/>
        <a:p>
          <a:endParaRPr lang="en-US"/>
        </a:p>
      </dgm:t>
    </dgm:pt>
    <dgm:pt modelId="{042D79E9-38D3-4102-BE1C-CD7D38B0F0F2}" type="sibTrans" cxnId="{81ADCD62-C03B-4C2B-ABC6-DCAD572940DE}">
      <dgm:prSet/>
      <dgm:spPr/>
      <dgm:t>
        <a:bodyPr/>
        <a:lstStyle/>
        <a:p>
          <a:endParaRPr lang="en-US"/>
        </a:p>
      </dgm:t>
    </dgm:pt>
    <dgm:pt modelId="{DA5FAD03-3AF6-4A68-AC9F-5A1FC4C6DE6E}">
      <dgm:prSet/>
      <dgm:spPr/>
      <dgm:t>
        <a:bodyPr/>
        <a:lstStyle/>
        <a:p>
          <a:r>
            <a:rPr lang="en-US"/>
            <a:t>Ease / Low Frustration (Q19–Q23)</a:t>
          </a:r>
        </a:p>
      </dgm:t>
    </dgm:pt>
    <dgm:pt modelId="{572463BA-7D05-483B-9B2B-DE4FFECFDF0C}" type="parTrans" cxnId="{CF09217B-9DF7-4085-8C76-4671A684D088}">
      <dgm:prSet/>
      <dgm:spPr/>
      <dgm:t>
        <a:bodyPr/>
        <a:lstStyle/>
        <a:p>
          <a:endParaRPr lang="en-US"/>
        </a:p>
      </dgm:t>
    </dgm:pt>
    <dgm:pt modelId="{88BAA47B-FC84-473A-9916-9650580917ED}" type="sibTrans" cxnId="{CF09217B-9DF7-4085-8C76-4671A684D088}">
      <dgm:prSet/>
      <dgm:spPr/>
      <dgm:t>
        <a:bodyPr/>
        <a:lstStyle/>
        <a:p>
          <a:endParaRPr lang="en-US"/>
        </a:p>
      </dgm:t>
    </dgm:pt>
    <dgm:pt modelId="{8E832287-4A8C-4E89-A43C-32AFBC5C1D87}">
      <dgm:prSet/>
      <dgm:spPr/>
      <dgm:t>
        <a:bodyPr/>
        <a:lstStyle/>
        <a:p>
          <a:r>
            <a:rPr lang="en-US"/>
            <a:t>Preference for AI vs human (Q24–Q30)</a:t>
          </a:r>
        </a:p>
      </dgm:t>
    </dgm:pt>
    <dgm:pt modelId="{DBAB5F6C-B2A4-465A-87C2-BF8B6670E2A8}" type="parTrans" cxnId="{0E52A0AC-D4E3-494D-903F-7E56432EA6DB}">
      <dgm:prSet/>
      <dgm:spPr/>
      <dgm:t>
        <a:bodyPr/>
        <a:lstStyle/>
        <a:p>
          <a:endParaRPr lang="en-US"/>
        </a:p>
      </dgm:t>
    </dgm:pt>
    <dgm:pt modelId="{C10A0B93-F2EC-4FC4-90AA-65EFC9AF6D10}" type="sibTrans" cxnId="{0E52A0AC-D4E3-494D-903F-7E56432EA6DB}">
      <dgm:prSet/>
      <dgm:spPr/>
      <dgm:t>
        <a:bodyPr/>
        <a:lstStyle/>
        <a:p>
          <a:endParaRPr lang="en-US"/>
        </a:p>
      </dgm:t>
    </dgm:pt>
    <dgm:pt modelId="{4815B9EB-16E8-43BA-BD10-B925B0F345CE}">
      <dgm:prSet/>
      <dgm:spPr/>
      <dgm:t>
        <a:bodyPr/>
        <a:lstStyle/>
        <a:p>
          <a:r>
            <a:rPr lang="en-US"/>
            <a:t>Composite scores: mean of items per construct.</a:t>
          </a:r>
        </a:p>
      </dgm:t>
    </dgm:pt>
    <dgm:pt modelId="{7ADFF3B0-220B-4636-8310-09FEA8CB350E}" type="parTrans" cxnId="{48A1F50E-9C06-4677-A5D4-86E7BDF27D33}">
      <dgm:prSet/>
      <dgm:spPr/>
      <dgm:t>
        <a:bodyPr/>
        <a:lstStyle/>
        <a:p>
          <a:endParaRPr lang="en-US"/>
        </a:p>
      </dgm:t>
    </dgm:pt>
    <dgm:pt modelId="{696EBF8E-E8A7-4445-A3E8-360908466FEC}" type="sibTrans" cxnId="{48A1F50E-9C06-4677-A5D4-86E7BDF27D33}">
      <dgm:prSet/>
      <dgm:spPr/>
      <dgm:t>
        <a:bodyPr/>
        <a:lstStyle/>
        <a:p>
          <a:endParaRPr lang="en-US"/>
        </a:p>
      </dgm:t>
    </dgm:pt>
    <dgm:pt modelId="{74B8E0A0-3E52-4971-8BDE-51EBE5F0AC29}">
      <dgm:prSet/>
      <dgm:spPr/>
      <dgm:t>
        <a:bodyPr/>
        <a:lstStyle/>
        <a:p>
          <a:r>
            <a:rPr lang="en-US"/>
            <a:t>Key demographics &amp; experience: age group, tech comfort, AI usage frequency.</a:t>
          </a:r>
        </a:p>
      </dgm:t>
    </dgm:pt>
    <dgm:pt modelId="{83551CD8-9F90-4344-B4F1-67E9B65587CB}" type="parTrans" cxnId="{ADCC9713-7683-47FD-9CE7-129C9CC1DE07}">
      <dgm:prSet/>
      <dgm:spPr/>
      <dgm:t>
        <a:bodyPr/>
        <a:lstStyle/>
        <a:p>
          <a:endParaRPr lang="en-US"/>
        </a:p>
      </dgm:t>
    </dgm:pt>
    <dgm:pt modelId="{D6393376-8F38-4F9B-A334-E4BF569F33B3}" type="sibTrans" cxnId="{ADCC9713-7683-47FD-9CE7-129C9CC1DE07}">
      <dgm:prSet/>
      <dgm:spPr/>
      <dgm:t>
        <a:bodyPr/>
        <a:lstStyle/>
        <a:p>
          <a:endParaRPr lang="en-US"/>
        </a:p>
      </dgm:t>
    </dgm:pt>
    <dgm:pt modelId="{DADE47C6-1251-41D4-B6B3-166C91A866FB}" type="pres">
      <dgm:prSet presAssocID="{44F8F6FF-BD45-43A9-9AC4-A73D4DBD26B2}" presName="Name0" presStyleCnt="0">
        <dgm:presLayoutVars>
          <dgm:dir/>
          <dgm:resizeHandles val="exact"/>
        </dgm:presLayoutVars>
      </dgm:prSet>
      <dgm:spPr/>
    </dgm:pt>
    <dgm:pt modelId="{D52B708A-50F0-46FC-8275-FA7B17EFD82D}" type="pres">
      <dgm:prSet presAssocID="{FBA2B114-A3A8-4093-BCC2-A003D83D99ED}" presName="node" presStyleLbl="node1" presStyleIdx="0" presStyleCnt="9">
        <dgm:presLayoutVars>
          <dgm:bulletEnabled val="1"/>
        </dgm:presLayoutVars>
      </dgm:prSet>
      <dgm:spPr/>
    </dgm:pt>
    <dgm:pt modelId="{FD1F6DED-BFA1-4CCD-8B0C-2A5B26CB542C}" type="pres">
      <dgm:prSet presAssocID="{61A44A7E-7EC4-49C8-8ACC-0C10B45E6E01}" presName="sibTrans" presStyleLbl="sibTrans1D1" presStyleIdx="0" presStyleCnt="8"/>
      <dgm:spPr/>
    </dgm:pt>
    <dgm:pt modelId="{D8A378CC-E0B5-4049-839E-918C4CE8178F}" type="pres">
      <dgm:prSet presAssocID="{61A44A7E-7EC4-49C8-8ACC-0C10B45E6E01}" presName="connectorText" presStyleLbl="sibTrans1D1" presStyleIdx="0" presStyleCnt="8"/>
      <dgm:spPr/>
    </dgm:pt>
    <dgm:pt modelId="{E16C8E0D-4E1C-4A54-826B-F4E4B862F85D}" type="pres">
      <dgm:prSet presAssocID="{82EFBB86-DA5D-4D8F-8AC4-C7EA09370BFC}" presName="node" presStyleLbl="node1" presStyleIdx="1" presStyleCnt="9">
        <dgm:presLayoutVars>
          <dgm:bulletEnabled val="1"/>
        </dgm:presLayoutVars>
      </dgm:prSet>
      <dgm:spPr/>
    </dgm:pt>
    <dgm:pt modelId="{9BD40C73-88AB-4605-8AF3-9782416E8409}" type="pres">
      <dgm:prSet presAssocID="{504910F6-DCE2-415A-B268-67BF477B77B6}" presName="sibTrans" presStyleLbl="sibTrans1D1" presStyleIdx="1" presStyleCnt="8"/>
      <dgm:spPr/>
    </dgm:pt>
    <dgm:pt modelId="{E4FDC1A6-4B98-48E6-AD37-70D33468B415}" type="pres">
      <dgm:prSet presAssocID="{504910F6-DCE2-415A-B268-67BF477B77B6}" presName="connectorText" presStyleLbl="sibTrans1D1" presStyleIdx="1" presStyleCnt="8"/>
      <dgm:spPr/>
    </dgm:pt>
    <dgm:pt modelId="{72039A8B-0E01-4EA5-B1DC-9F42133E2BB3}" type="pres">
      <dgm:prSet presAssocID="{6CB41D5E-69F1-401E-94BA-B93918E3BBCA}" presName="node" presStyleLbl="node1" presStyleIdx="2" presStyleCnt="9">
        <dgm:presLayoutVars>
          <dgm:bulletEnabled val="1"/>
        </dgm:presLayoutVars>
      </dgm:prSet>
      <dgm:spPr/>
    </dgm:pt>
    <dgm:pt modelId="{D29930BA-BD39-46B1-AFAA-2C9D4FE97EE8}" type="pres">
      <dgm:prSet presAssocID="{19CAF6D7-9E75-46B2-A5B4-F2B1578FBBE4}" presName="sibTrans" presStyleLbl="sibTrans1D1" presStyleIdx="2" presStyleCnt="8"/>
      <dgm:spPr/>
    </dgm:pt>
    <dgm:pt modelId="{ABBE07D2-09BF-4E99-B0B0-6FCACBB90125}" type="pres">
      <dgm:prSet presAssocID="{19CAF6D7-9E75-46B2-A5B4-F2B1578FBBE4}" presName="connectorText" presStyleLbl="sibTrans1D1" presStyleIdx="2" presStyleCnt="8"/>
      <dgm:spPr/>
    </dgm:pt>
    <dgm:pt modelId="{2F73C85C-8A48-44C5-B4CE-CE4AEDD31038}" type="pres">
      <dgm:prSet presAssocID="{3249C8E3-A676-4365-A9A1-E6F294F54816}" presName="node" presStyleLbl="node1" presStyleIdx="3" presStyleCnt="9">
        <dgm:presLayoutVars>
          <dgm:bulletEnabled val="1"/>
        </dgm:presLayoutVars>
      </dgm:prSet>
      <dgm:spPr/>
    </dgm:pt>
    <dgm:pt modelId="{90F1CA6D-147D-452A-8AA8-8276B0A1197A}" type="pres">
      <dgm:prSet presAssocID="{AD6AB26F-F1B0-4FEB-AB87-568784837940}" presName="sibTrans" presStyleLbl="sibTrans1D1" presStyleIdx="3" presStyleCnt="8"/>
      <dgm:spPr/>
    </dgm:pt>
    <dgm:pt modelId="{56F8BA1E-F52F-4A5F-B0F9-A99C07D24350}" type="pres">
      <dgm:prSet presAssocID="{AD6AB26F-F1B0-4FEB-AB87-568784837940}" presName="connectorText" presStyleLbl="sibTrans1D1" presStyleIdx="3" presStyleCnt="8"/>
      <dgm:spPr/>
    </dgm:pt>
    <dgm:pt modelId="{9837BFA0-DEC8-4018-8F2E-4BF32D929455}" type="pres">
      <dgm:prSet presAssocID="{F6CE80A4-F2E5-4158-86AB-4B00CF5A9D60}" presName="node" presStyleLbl="node1" presStyleIdx="4" presStyleCnt="9">
        <dgm:presLayoutVars>
          <dgm:bulletEnabled val="1"/>
        </dgm:presLayoutVars>
      </dgm:prSet>
      <dgm:spPr/>
    </dgm:pt>
    <dgm:pt modelId="{1515B780-CD04-4A11-B5A4-B4731C4BFB6C}" type="pres">
      <dgm:prSet presAssocID="{042D79E9-38D3-4102-BE1C-CD7D38B0F0F2}" presName="sibTrans" presStyleLbl="sibTrans1D1" presStyleIdx="4" presStyleCnt="8"/>
      <dgm:spPr/>
    </dgm:pt>
    <dgm:pt modelId="{6B0DE054-4CA8-405A-B79C-34EEB64E8935}" type="pres">
      <dgm:prSet presAssocID="{042D79E9-38D3-4102-BE1C-CD7D38B0F0F2}" presName="connectorText" presStyleLbl="sibTrans1D1" presStyleIdx="4" presStyleCnt="8"/>
      <dgm:spPr/>
    </dgm:pt>
    <dgm:pt modelId="{1E9BADCE-CCF6-4D7E-911E-35ADB411CF2B}" type="pres">
      <dgm:prSet presAssocID="{DA5FAD03-3AF6-4A68-AC9F-5A1FC4C6DE6E}" presName="node" presStyleLbl="node1" presStyleIdx="5" presStyleCnt="9">
        <dgm:presLayoutVars>
          <dgm:bulletEnabled val="1"/>
        </dgm:presLayoutVars>
      </dgm:prSet>
      <dgm:spPr/>
    </dgm:pt>
    <dgm:pt modelId="{6ED191B2-FD4D-4B97-9732-7174E10ADCED}" type="pres">
      <dgm:prSet presAssocID="{88BAA47B-FC84-473A-9916-9650580917ED}" presName="sibTrans" presStyleLbl="sibTrans1D1" presStyleIdx="5" presStyleCnt="8"/>
      <dgm:spPr/>
    </dgm:pt>
    <dgm:pt modelId="{F9B45450-273C-4C5E-ACE6-5C18764C794C}" type="pres">
      <dgm:prSet presAssocID="{88BAA47B-FC84-473A-9916-9650580917ED}" presName="connectorText" presStyleLbl="sibTrans1D1" presStyleIdx="5" presStyleCnt="8"/>
      <dgm:spPr/>
    </dgm:pt>
    <dgm:pt modelId="{0F3DB6BF-640B-4027-B304-7F54F16A3F45}" type="pres">
      <dgm:prSet presAssocID="{8E832287-4A8C-4E89-A43C-32AFBC5C1D87}" presName="node" presStyleLbl="node1" presStyleIdx="6" presStyleCnt="9">
        <dgm:presLayoutVars>
          <dgm:bulletEnabled val="1"/>
        </dgm:presLayoutVars>
      </dgm:prSet>
      <dgm:spPr/>
    </dgm:pt>
    <dgm:pt modelId="{3FD701C3-BAE8-486A-88A0-090FCA1787D9}" type="pres">
      <dgm:prSet presAssocID="{C10A0B93-F2EC-4FC4-90AA-65EFC9AF6D10}" presName="sibTrans" presStyleLbl="sibTrans1D1" presStyleIdx="6" presStyleCnt="8"/>
      <dgm:spPr/>
    </dgm:pt>
    <dgm:pt modelId="{0C22BF51-4AE3-46C9-8048-881F465334A2}" type="pres">
      <dgm:prSet presAssocID="{C10A0B93-F2EC-4FC4-90AA-65EFC9AF6D10}" presName="connectorText" presStyleLbl="sibTrans1D1" presStyleIdx="6" presStyleCnt="8"/>
      <dgm:spPr/>
    </dgm:pt>
    <dgm:pt modelId="{CE23C834-6E0B-470B-91CB-5002AFE95664}" type="pres">
      <dgm:prSet presAssocID="{4815B9EB-16E8-43BA-BD10-B925B0F345CE}" presName="node" presStyleLbl="node1" presStyleIdx="7" presStyleCnt="9">
        <dgm:presLayoutVars>
          <dgm:bulletEnabled val="1"/>
        </dgm:presLayoutVars>
      </dgm:prSet>
      <dgm:spPr/>
    </dgm:pt>
    <dgm:pt modelId="{E81E9F9F-5862-450C-A394-1EBE61E64BEF}" type="pres">
      <dgm:prSet presAssocID="{696EBF8E-E8A7-4445-A3E8-360908466FEC}" presName="sibTrans" presStyleLbl="sibTrans1D1" presStyleIdx="7" presStyleCnt="8"/>
      <dgm:spPr/>
    </dgm:pt>
    <dgm:pt modelId="{9FB902D6-AE5A-46BC-BD30-EF8E2F3E1C26}" type="pres">
      <dgm:prSet presAssocID="{696EBF8E-E8A7-4445-A3E8-360908466FEC}" presName="connectorText" presStyleLbl="sibTrans1D1" presStyleIdx="7" presStyleCnt="8"/>
      <dgm:spPr/>
    </dgm:pt>
    <dgm:pt modelId="{2CDC0D83-6FDE-48D6-A3E7-138A43BB313C}" type="pres">
      <dgm:prSet presAssocID="{74B8E0A0-3E52-4971-8BDE-51EBE5F0AC29}" presName="node" presStyleLbl="node1" presStyleIdx="8" presStyleCnt="9">
        <dgm:presLayoutVars>
          <dgm:bulletEnabled val="1"/>
        </dgm:presLayoutVars>
      </dgm:prSet>
      <dgm:spPr/>
    </dgm:pt>
  </dgm:ptLst>
  <dgm:cxnLst>
    <dgm:cxn modelId="{49584204-B400-424C-8576-CA9F20BA4C02}" type="presOf" srcId="{74B8E0A0-3E52-4971-8BDE-51EBE5F0AC29}" destId="{2CDC0D83-6FDE-48D6-A3E7-138A43BB313C}" srcOrd="0" destOrd="0" presId="urn:microsoft.com/office/officeart/2016/7/layout/RepeatingBendingProcessNew"/>
    <dgm:cxn modelId="{0B2DE007-4D63-44FD-A91A-E003644C5FAA}" type="presOf" srcId="{6CB41D5E-69F1-401E-94BA-B93918E3BBCA}" destId="{72039A8B-0E01-4EA5-B1DC-9F42133E2BB3}" srcOrd="0" destOrd="0" presId="urn:microsoft.com/office/officeart/2016/7/layout/RepeatingBendingProcessNew"/>
    <dgm:cxn modelId="{48A1F50E-9C06-4677-A5D4-86E7BDF27D33}" srcId="{44F8F6FF-BD45-43A9-9AC4-A73D4DBD26B2}" destId="{4815B9EB-16E8-43BA-BD10-B925B0F345CE}" srcOrd="7" destOrd="0" parTransId="{7ADFF3B0-220B-4636-8310-09FEA8CB350E}" sibTransId="{696EBF8E-E8A7-4445-A3E8-360908466FEC}"/>
    <dgm:cxn modelId="{77742211-464A-463F-86E0-1F867CCD28B8}" type="presOf" srcId="{AD6AB26F-F1B0-4FEB-AB87-568784837940}" destId="{56F8BA1E-F52F-4A5F-B0F9-A99C07D24350}" srcOrd="1" destOrd="0" presId="urn:microsoft.com/office/officeart/2016/7/layout/RepeatingBendingProcessNew"/>
    <dgm:cxn modelId="{B427D512-910C-45AF-989D-B74672C930C3}" type="presOf" srcId="{504910F6-DCE2-415A-B268-67BF477B77B6}" destId="{E4FDC1A6-4B98-48E6-AD37-70D33468B415}" srcOrd="1" destOrd="0" presId="urn:microsoft.com/office/officeart/2016/7/layout/RepeatingBendingProcessNew"/>
    <dgm:cxn modelId="{ADCC9713-7683-47FD-9CE7-129C9CC1DE07}" srcId="{44F8F6FF-BD45-43A9-9AC4-A73D4DBD26B2}" destId="{74B8E0A0-3E52-4971-8BDE-51EBE5F0AC29}" srcOrd="8" destOrd="0" parTransId="{83551CD8-9F90-4344-B4F1-67E9B65587CB}" sibTransId="{D6393376-8F38-4F9B-A334-E4BF569F33B3}"/>
    <dgm:cxn modelId="{6070AB15-C6B7-44BB-BCFC-B45F8F13E843}" type="presOf" srcId="{AD6AB26F-F1B0-4FEB-AB87-568784837940}" destId="{90F1CA6D-147D-452A-8AA8-8276B0A1197A}" srcOrd="0" destOrd="0" presId="urn:microsoft.com/office/officeart/2016/7/layout/RepeatingBendingProcessNew"/>
    <dgm:cxn modelId="{D148F422-DA60-406E-A79C-572DA3C732C5}" type="presOf" srcId="{F6CE80A4-F2E5-4158-86AB-4B00CF5A9D60}" destId="{9837BFA0-DEC8-4018-8F2E-4BF32D929455}" srcOrd="0" destOrd="0" presId="urn:microsoft.com/office/officeart/2016/7/layout/RepeatingBendingProcessNew"/>
    <dgm:cxn modelId="{A48A2226-9BB0-40FC-B943-1D24F8CD88F1}" type="presOf" srcId="{88BAA47B-FC84-473A-9916-9650580917ED}" destId="{F9B45450-273C-4C5E-ACE6-5C18764C794C}" srcOrd="1" destOrd="0" presId="urn:microsoft.com/office/officeart/2016/7/layout/RepeatingBendingProcessNew"/>
    <dgm:cxn modelId="{77F3DE33-762A-4CD0-AC8A-3DD2B7140597}" type="presOf" srcId="{88BAA47B-FC84-473A-9916-9650580917ED}" destId="{6ED191B2-FD4D-4B97-9732-7174E10ADCED}" srcOrd="0" destOrd="0" presId="urn:microsoft.com/office/officeart/2016/7/layout/RepeatingBendingProcessNew"/>
    <dgm:cxn modelId="{D91D1F34-F854-49C7-89EA-4FB69EF986E9}" srcId="{44F8F6FF-BD45-43A9-9AC4-A73D4DBD26B2}" destId="{3249C8E3-A676-4365-A9A1-E6F294F54816}" srcOrd="3" destOrd="0" parTransId="{36747B71-C629-4012-B0EE-E2129C0465E3}" sibTransId="{AD6AB26F-F1B0-4FEB-AB87-568784837940}"/>
    <dgm:cxn modelId="{9A625B3C-7CE9-4C19-B4E6-96352B30D866}" type="presOf" srcId="{042D79E9-38D3-4102-BE1C-CD7D38B0F0F2}" destId="{1515B780-CD04-4A11-B5A4-B4731C4BFB6C}" srcOrd="0" destOrd="0" presId="urn:microsoft.com/office/officeart/2016/7/layout/RepeatingBendingProcessNew"/>
    <dgm:cxn modelId="{FE1DBE3C-5150-4CC6-AEA3-83D9732016A3}" type="presOf" srcId="{696EBF8E-E8A7-4445-A3E8-360908466FEC}" destId="{E81E9F9F-5862-450C-A394-1EBE61E64BEF}" srcOrd="0" destOrd="0" presId="urn:microsoft.com/office/officeart/2016/7/layout/RepeatingBendingProcessNew"/>
    <dgm:cxn modelId="{A5DBD65C-6557-470B-8605-DB8A5C26F0F2}" type="presOf" srcId="{19CAF6D7-9E75-46B2-A5B4-F2B1578FBBE4}" destId="{D29930BA-BD39-46B1-AFAA-2C9D4FE97EE8}" srcOrd="0" destOrd="0" presId="urn:microsoft.com/office/officeart/2016/7/layout/RepeatingBendingProcessNew"/>
    <dgm:cxn modelId="{81ADCD62-C03B-4C2B-ABC6-DCAD572940DE}" srcId="{44F8F6FF-BD45-43A9-9AC4-A73D4DBD26B2}" destId="{F6CE80A4-F2E5-4158-86AB-4B00CF5A9D60}" srcOrd="4" destOrd="0" parTransId="{D241C47E-F0BA-47E7-B962-7DBB68CDF214}" sibTransId="{042D79E9-38D3-4102-BE1C-CD7D38B0F0F2}"/>
    <dgm:cxn modelId="{D5D2BE49-1C34-40E1-AFE8-FE93E1999B64}" type="presOf" srcId="{504910F6-DCE2-415A-B268-67BF477B77B6}" destId="{9BD40C73-88AB-4605-8AF3-9782416E8409}" srcOrd="0" destOrd="0" presId="urn:microsoft.com/office/officeart/2016/7/layout/RepeatingBendingProcessNew"/>
    <dgm:cxn modelId="{01C90C70-F4FD-4760-891C-6D84A0B848E9}" type="presOf" srcId="{FBA2B114-A3A8-4093-BCC2-A003D83D99ED}" destId="{D52B708A-50F0-46FC-8275-FA7B17EFD82D}" srcOrd="0" destOrd="0" presId="urn:microsoft.com/office/officeart/2016/7/layout/RepeatingBendingProcessNew"/>
    <dgm:cxn modelId="{AEAD5474-D566-4BE9-8C1D-2672B0799AA7}" type="presOf" srcId="{DA5FAD03-3AF6-4A68-AC9F-5A1FC4C6DE6E}" destId="{1E9BADCE-CCF6-4D7E-911E-35ADB411CF2B}" srcOrd="0" destOrd="0" presId="urn:microsoft.com/office/officeart/2016/7/layout/RepeatingBendingProcessNew"/>
    <dgm:cxn modelId="{3B174475-6FA8-41F6-8719-ED8F18559EF2}" type="presOf" srcId="{696EBF8E-E8A7-4445-A3E8-360908466FEC}" destId="{9FB902D6-AE5A-46BC-BD30-EF8E2F3E1C26}" srcOrd="1" destOrd="0" presId="urn:microsoft.com/office/officeart/2016/7/layout/RepeatingBendingProcessNew"/>
    <dgm:cxn modelId="{9C7C3976-8267-4C53-84E4-4A7E523617F6}" type="presOf" srcId="{C10A0B93-F2EC-4FC4-90AA-65EFC9AF6D10}" destId="{3FD701C3-BAE8-486A-88A0-090FCA1787D9}" srcOrd="0" destOrd="0" presId="urn:microsoft.com/office/officeart/2016/7/layout/RepeatingBendingProcessNew"/>
    <dgm:cxn modelId="{CF09217B-9DF7-4085-8C76-4671A684D088}" srcId="{44F8F6FF-BD45-43A9-9AC4-A73D4DBD26B2}" destId="{DA5FAD03-3AF6-4A68-AC9F-5A1FC4C6DE6E}" srcOrd="5" destOrd="0" parTransId="{572463BA-7D05-483B-9B2B-DE4FFECFDF0C}" sibTransId="{88BAA47B-FC84-473A-9916-9650580917ED}"/>
    <dgm:cxn modelId="{2676D381-4120-40DD-9054-599FAE81E721}" type="presOf" srcId="{82EFBB86-DA5D-4D8F-8AC4-C7EA09370BFC}" destId="{E16C8E0D-4E1C-4A54-826B-F4E4B862F85D}" srcOrd="0" destOrd="0" presId="urn:microsoft.com/office/officeart/2016/7/layout/RepeatingBendingProcessNew"/>
    <dgm:cxn modelId="{43175E86-F0DC-42C8-A5E8-38AFDC7095D1}" type="presOf" srcId="{8E832287-4A8C-4E89-A43C-32AFBC5C1D87}" destId="{0F3DB6BF-640B-4027-B304-7F54F16A3F45}" srcOrd="0" destOrd="0" presId="urn:microsoft.com/office/officeart/2016/7/layout/RepeatingBendingProcessNew"/>
    <dgm:cxn modelId="{77F3CE8E-CCAE-4110-BDBE-5A73688F3424}" type="presOf" srcId="{61A44A7E-7EC4-49C8-8ACC-0C10B45E6E01}" destId="{FD1F6DED-BFA1-4CCD-8B0C-2A5B26CB542C}" srcOrd="0" destOrd="0" presId="urn:microsoft.com/office/officeart/2016/7/layout/RepeatingBendingProcessNew"/>
    <dgm:cxn modelId="{1AC0BB95-B90D-476C-864C-B4B7D14AD0A1}" srcId="{44F8F6FF-BD45-43A9-9AC4-A73D4DBD26B2}" destId="{FBA2B114-A3A8-4093-BCC2-A003D83D99ED}" srcOrd="0" destOrd="0" parTransId="{A6F534FA-216D-4055-B4F8-AE614895E55E}" sibTransId="{61A44A7E-7EC4-49C8-8ACC-0C10B45E6E01}"/>
    <dgm:cxn modelId="{C4ADAC9E-25E5-4AC1-962E-9F2C43871910}" srcId="{44F8F6FF-BD45-43A9-9AC4-A73D4DBD26B2}" destId="{82EFBB86-DA5D-4D8F-8AC4-C7EA09370BFC}" srcOrd="1" destOrd="0" parTransId="{B9B1723C-B612-40E1-A6CD-5DB44FFE4010}" sibTransId="{504910F6-DCE2-415A-B268-67BF477B77B6}"/>
    <dgm:cxn modelId="{FEFD80A4-7C5B-4CCA-8B90-9A3EB8826300}" type="presOf" srcId="{C10A0B93-F2EC-4FC4-90AA-65EFC9AF6D10}" destId="{0C22BF51-4AE3-46C9-8048-881F465334A2}" srcOrd="1" destOrd="0" presId="urn:microsoft.com/office/officeart/2016/7/layout/RepeatingBendingProcessNew"/>
    <dgm:cxn modelId="{400F69A8-0BAB-4A6E-A107-949573881253}" type="presOf" srcId="{19CAF6D7-9E75-46B2-A5B4-F2B1578FBBE4}" destId="{ABBE07D2-09BF-4E99-B0B0-6FCACBB90125}" srcOrd="1" destOrd="0" presId="urn:microsoft.com/office/officeart/2016/7/layout/RepeatingBendingProcessNew"/>
    <dgm:cxn modelId="{455CCFA8-94B2-423A-B4D6-02E26E7A6832}" type="presOf" srcId="{4815B9EB-16E8-43BA-BD10-B925B0F345CE}" destId="{CE23C834-6E0B-470B-91CB-5002AFE95664}" srcOrd="0" destOrd="0" presId="urn:microsoft.com/office/officeart/2016/7/layout/RepeatingBendingProcessNew"/>
    <dgm:cxn modelId="{0E52A0AC-D4E3-494D-903F-7E56432EA6DB}" srcId="{44F8F6FF-BD45-43A9-9AC4-A73D4DBD26B2}" destId="{8E832287-4A8C-4E89-A43C-32AFBC5C1D87}" srcOrd="6" destOrd="0" parTransId="{DBAB5F6C-B2A4-465A-87C2-BF8B6670E2A8}" sibTransId="{C10A0B93-F2EC-4FC4-90AA-65EFC9AF6D10}"/>
    <dgm:cxn modelId="{6917DCBD-84EB-45B0-816B-755844A0E508}" type="presOf" srcId="{042D79E9-38D3-4102-BE1C-CD7D38B0F0F2}" destId="{6B0DE054-4CA8-405A-B79C-34EEB64E8935}" srcOrd="1" destOrd="0" presId="urn:microsoft.com/office/officeart/2016/7/layout/RepeatingBendingProcessNew"/>
    <dgm:cxn modelId="{A96F82D1-0F46-4A12-8E02-BF8CB60D9AA9}" srcId="{44F8F6FF-BD45-43A9-9AC4-A73D4DBD26B2}" destId="{6CB41D5E-69F1-401E-94BA-B93918E3BBCA}" srcOrd="2" destOrd="0" parTransId="{F48F8163-7D6B-41CF-987D-21D927CF402D}" sibTransId="{19CAF6D7-9E75-46B2-A5B4-F2B1578FBBE4}"/>
    <dgm:cxn modelId="{38A1FEED-40AA-411B-B0F1-81F577C1891F}" type="presOf" srcId="{3249C8E3-A676-4365-A9A1-E6F294F54816}" destId="{2F73C85C-8A48-44C5-B4CE-CE4AEDD31038}" srcOrd="0" destOrd="0" presId="urn:microsoft.com/office/officeart/2016/7/layout/RepeatingBendingProcessNew"/>
    <dgm:cxn modelId="{1066FFEE-EE73-428E-B0D7-B6C6EBC0274A}" type="presOf" srcId="{61A44A7E-7EC4-49C8-8ACC-0C10B45E6E01}" destId="{D8A378CC-E0B5-4049-839E-918C4CE8178F}" srcOrd="1" destOrd="0" presId="urn:microsoft.com/office/officeart/2016/7/layout/RepeatingBendingProcessNew"/>
    <dgm:cxn modelId="{183044F2-7736-4BDB-82B3-E6239F63DEAD}" type="presOf" srcId="{44F8F6FF-BD45-43A9-9AC4-A73D4DBD26B2}" destId="{DADE47C6-1251-41D4-B6B3-166C91A866FB}" srcOrd="0" destOrd="0" presId="urn:microsoft.com/office/officeart/2016/7/layout/RepeatingBendingProcessNew"/>
    <dgm:cxn modelId="{3B1EA12D-1F53-4687-A1E7-C5E6E4CF4626}" type="presParOf" srcId="{DADE47C6-1251-41D4-B6B3-166C91A866FB}" destId="{D52B708A-50F0-46FC-8275-FA7B17EFD82D}" srcOrd="0" destOrd="0" presId="urn:microsoft.com/office/officeart/2016/7/layout/RepeatingBendingProcessNew"/>
    <dgm:cxn modelId="{3D756D30-6FA8-4821-BC9D-B818129317EB}" type="presParOf" srcId="{DADE47C6-1251-41D4-B6B3-166C91A866FB}" destId="{FD1F6DED-BFA1-4CCD-8B0C-2A5B26CB542C}" srcOrd="1" destOrd="0" presId="urn:microsoft.com/office/officeart/2016/7/layout/RepeatingBendingProcessNew"/>
    <dgm:cxn modelId="{299EDE68-E6D5-4697-BF01-B8AC33B489D6}" type="presParOf" srcId="{FD1F6DED-BFA1-4CCD-8B0C-2A5B26CB542C}" destId="{D8A378CC-E0B5-4049-839E-918C4CE8178F}" srcOrd="0" destOrd="0" presId="urn:microsoft.com/office/officeart/2016/7/layout/RepeatingBendingProcessNew"/>
    <dgm:cxn modelId="{2C57A15A-0D19-40ED-9E5B-BBE1DF19493D}" type="presParOf" srcId="{DADE47C6-1251-41D4-B6B3-166C91A866FB}" destId="{E16C8E0D-4E1C-4A54-826B-F4E4B862F85D}" srcOrd="2" destOrd="0" presId="urn:microsoft.com/office/officeart/2016/7/layout/RepeatingBendingProcessNew"/>
    <dgm:cxn modelId="{F9B759F7-F98A-4BE0-AAA7-B820F83B70D8}" type="presParOf" srcId="{DADE47C6-1251-41D4-B6B3-166C91A866FB}" destId="{9BD40C73-88AB-4605-8AF3-9782416E8409}" srcOrd="3" destOrd="0" presId="urn:microsoft.com/office/officeart/2016/7/layout/RepeatingBendingProcessNew"/>
    <dgm:cxn modelId="{CE513B6C-4F7E-47F0-B123-6EBF5B768668}" type="presParOf" srcId="{9BD40C73-88AB-4605-8AF3-9782416E8409}" destId="{E4FDC1A6-4B98-48E6-AD37-70D33468B415}" srcOrd="0" destOrd="0" presId="urn:microsoft.com/office/officeart/2016/7/layout/RepeatingBendingProcessNew"/>
    <dgm:cxn modelId="{82F594AF-D91C-49E7-B305-EA14AC597285}" type="presParOf" srcId="{DADE47C6-1251-41D4-B6B3-166C91A866FB}" destId="{72039A8B-0E01-4EA5-B1DC-9F42133E2BB3}" srcOrd="4" destOrd="0" presId="urn:microsoft.com/office/officeart/2016/7/layout/RepeatingBendingProcessNew"/>
    <dgm:cxn modelId="{B02E4344-95F5-4577-B351-505D71A50F99}" type="presParOf" srcId="{DADE47C6-1251-41D4-B6B3-166C91A866FB}" destId="{D29930BA-BD39-46B1-AFAA-2C9D4FE97EE8}" srcOrd="5" destOrd="0" presId="urn:microsoft.com/office/officeart/2016/7/layout/RepeatingBendingProcessNew"/>
    <dgm:cxn modelId="{498DBE4D-EE23-4062-BB4F-CAC5E7A189ED}" type="presParOf" srcId="{D29930BA-BD39-46B1-AFAA-2C9D4FE97EE8}" destId="{ABBE07D2-09BF-4E99-B0B0-6FCACBB90125}" srcOrd="0" destOrd="0" presId="urn:microsoft.com/office/officeart/2016/7/layout/RepeatingBendingProcessNew"/>
    <dgm:cxn modelId="{6A15B712-8372-4A2F-9373-83E04FFA4C4F}" type="presParOf" srcId="{DADE47C6-1251-41D4-B6B3-166C91A866FB}" destId="{2F73C85C-8A48-44C5-B4CE-CE4AEDD31038}" srcOrd="6" destOrd="0" presId="urn:microsoft.com/office/officeart/2016/7/layout/RepeatingBendingProcessNew"/>
    <dgm:cxn modelId="{F4E04810-6C4A-4FF1-99ED-E01658426609}" type="presParOf" srcId="{DADE47C6-1251-41D4-B6B3-166C91A866FB}" destId="{90F1CA6D-147D-452A-8AA8-8276B0A1197A}" srcOrd="7" destOrd="0" presId="urn:microsoft.com/office/officeart/2016/7/layout/RepeatingBendingProcessNew"/>
    <dgm:cxn modelId="{B3A31B61-749A-484E-88C6-9E1448C431CF}" type="presParOf" srcId="{90F1CA6D-147D-452A-8AA8-8276B0A1197A}" destId="{56F8BA1E-F52F-4A5F-B0F9-A99C07D24350}" srcOrd="0" destOrd="0" presId="urn:microsoft.com/office/officeart/2016/7/layout/RepeatingBendingProcessNew"/>
    <dgm:cxn modelId="{F0D72A39-0A2A-4D22-BA5D-C19C73E1E066}" type="presParOf" srcId="{DADE47C6-1251-41D4-B6B3-166C91A866FB}" destId="{9837BFA0-DEC8-4018-8F2E-4BF32D929455}" srcOrd="8" destOrd="0" presId="urn:microsoft.com/office/officeart/2016/7/layout/RepeatingBendingProcessNew"/>
    <dgm:cxn modelId="{694E6393-2ED2-43E7-8593-6DBD16BE1A5E}" type="presParOf" srcId="{DADE47C6-1251-41D4-B6B3-166C91A866FB}" destId="{1515B780-CD04-4A11-B5A4-B4731C4BFB6C}" srcOrd="9" destOrd="0" presId="urn:microsoft.com/office/officeart/2016/7/layout/RepeatingBendingProcessNew"/>
    <dgm:cxn modelId="{E315A512-BA7E-484B-8284-A72F3831260A}" type="presParOf" srcId="{1515B780-CD04-4A11-B5A4-B4731C4BFB6C}" destId="{6B0DE054-4CA8-405A-B79C-34EEB64E8935}" srcOrd="0" destOrd="0" presId="urn:microsoft.com/office/officeart/2016/7/layout/RepeatingBendingProcessNew"/>
    <dgm:cxn modelId="{4FE3185A-E17C-434F-95D7-1C5D36C2CDB4}" type="presParOf" srcId="{DADE47C6-1251-41D4-B6B3-166C91A866FB}" destId="{1E9BADCE-CCF6-4D7E-911E-35ADB411CF2B}" srcOrd="10" destOrd="0" presId="urn:microsoft.com/office/officeart/2016/7/layout/RepeatingBendingProcessNew"/>
    <dgm:cxn modelId="{F8E06EC1-127A-456E-A9F5-58FE5BC75EE4}" type="presParOf" srcId="{DADE47C6-1251-41D4-B6B3-166C91A866FB}" destId="{6ED191B2-FD4D-4B97-9732-7174E10ADCED}" srcOrd="11" destOrd="0" presId="urn:microsoft.com/office/officeart/2016/7/layout/RepeatingBendingProcessNew"/>
    <dgm:cxn modelId="{5D73BE58-3EFB-4114-B03F-EE4BF9858D58}" type="presParOf" srcId="{6ED191B2-FD4D-4B97-9732-7174E10ADCED}" destId="{F9B45450-273C-4C5E-ACE6-5C18764C794C}" srcOrd="0" destOrd="0" presId="urn:microsoft.com/office/officeart/2016/7/layout/RepeatingBendingProcessNew"/>
    <dgm:cxn modelId="{F8A86E65-B9DC-4AA0-BB22-B5C76FEAD47E}" type="presParOf" srcId="{DADE47C6-1251-41D4-B6B3-166C91A866FB}" destId="{0F3DB6BF-640B-4027-B304-7F54F16A3F45}" srcOrd="12" destOrd="0" presId="urn:microsoft.com/office/officeart/2016/7/layout/RepeatingBendingProcessNew"/>
    <dgm:cxn modelId="{B9BEC7C3-D75E-43AF-8EE8-025D0C9956C3}" type="presParOf" srcId="{DADE47C6-1251-41D4-B6B3-166C91A866FB}" destId="{3FD701C3-BAE8-486A-88A0-090FCA1787D9}" srcOrd="13" destOrd="0" presId="urn:microsoft.com/office/officeart/2016/7/layout/RepeatingBendingProcessNew"/>
    <dgm:cxn modelId="{852277A0-7461-4319-9B73-65AC0FCD4D31}" type="presParOf" srcId="{3FD701C3-BAE8-486A-88A0-090FCA1787D9}" destId="{0C22BF51-4AE3-46C9-8048-881F465334A2}" srcOrd="0" destOrd="0" presId="urn:microsoft.com/office/officeart/2016/7/layout/RepeatingBendingProcessNew"/>
    <dgm:cxn modelId="{60A69439-D84D-42F0-9EEF-2801279EBB87}" type="presParOf" srcId="{DADE47C6-1251-41D4-B6B3-166C91A866FB}" destId="{CE23C834-6E0B-470B-91CB-5002AFE95664}" srcOrd="14" destOrd="0" presId="urn:microsoft.com/office/officeart/2016/7/layout/RepeatingBendingProcessNew"/>
    <dgm:cxn modelId="{4270460E-372B-4891-8CDC-A13CE8FC94BA}" type="presParOf" srcId="{DADE47C6-1251-41D4-B6B3-166C91A866FB}" destId="{E81E9F9F-5862-450C-A394-1EBE61E64BEF}" srcOrd="15" destOrd="0" presId="urn:microsoft.com/office/officeart/2016/7/layout/RepeatingBendingProcessNew"/>
    <dgm:cxn modelId="{BE4A1F39-8834-46BB-8135-AC60B99EC741}" type="presParOf" srcId="{E81E9F9F-5862-450C-A394-1EBE61E64BEF}" destId="{9FB902D6-AE5A-46BC-BD30-EF8E2F3E1C26}" srcOrd="0" destOrd="0" presId="urn:microsoft.com/office/officeart/2016/7/layout/RepeatingBendingProcessNew"/>
    <dgm:cxn modelId="{977FA5D0-976F-4EC2-B4A1-4DDFD3BB03C6}" type="presParOf" srcId="{DADE47C6-1251-41D4-B6B3-166C91A866FB}" destId="{2CDC0D83-6FDE-48D6-A3E7-138A43BB313C}" srcOrd="1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85F5B71-5FBD-40AA-92C4-77C89A3E5D54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90AC41D-0D0E-4E05-85EF-9CB66016ACF6}">
      <dgm:prSet/>
      <dgm:spPr/>
      <dgm:t>
        <a:bodyPr/>
        <a:lstStyle/>
        <a:p>
          <a:r>
            <a:rPr lang="en-US" b="1"/>
            <a:t>Insight 1 – Trust as the main lever</a:t>
          </a:r>
          <a:endParaRPr lang="en-US"/>
        </a:p>
      </dgm:t>
    </dgm:pt>
    <dgm:pt modelId="{A11DEBD3-464C-4BDA-A753-34144172A919}" type="parTrans" cxnId="{38C48BDC-5DD9-4875-9124-CC60C338927E}">
      <dgm:prSet/>
      <dgm:spPr/>
      <dgm:t>
        <a:bodyPr/>
        <a:lstStyle/>
        <a:p>
          <a:endParaRPr lang="en-US"/>
        </a:p>
      </dgm:t>
    </dgm:pt>
    <dgm:pt modelId="{E6BC26B5-643D-4E78-AA4D-EBAFB617F0CD}" type="sibTrans" cxnId="{38C48BDC-5DD9-4875-9124-CC60C338927E}">
      <dgm:prSet/>
      <dgm:spPr/>
      <dgm:t>
        <a:bodyPr/>
        <a:lstStyle/>
        <a:p>
          <a:endParaRPr lang="en-US"/>
        </a:p>
      </dgm:t>
    </dgm:pt>
    <dgm:pt modelId="{E79A2A5C-621F-4A79-A479-81C7D3F9C3D9}">
      <dgm:prSet custT="1"/>
      <dgm:spPr/>
      <dgm:t>
        <a:bodyPr/>
        <a:lstStyle/>
        <a:p>
          <a:r>
            <a:rPr lang="en-US" sz="1500" dirty="0"/>
            <a:t>Trust strongly predicts Preference (H1 accepted) and is the strongest regression driver (H5).</a:t>
          </a:r>
        </a:p>
      </dgm:t>
    </dgm:pt>
    <dgm:pt modelId="{E5AF98A8-9032-409C-8BCC-0144D56A2F2F}" type="parTrans" cxnId="{5BF5A6A3-E239-48F6-B1EF-CFE8F42E6530}">
      <dgm:prSet/>
      <dgm:spPr/>
      <dgm:t>
        <a:bodyPr/>
        <a:lstStyle/>
        <a:p>
          <a:endParaRPr lang="en-US"/>
        </a:p>
      </dgm:t>
    </dgm:pt>
    <dgm:pt modelId="{89B03924-641C-4B3C-BCD7-CC75674E4630}" type="sibTrans" cxnId="{5BF5A6A3-E239-48F6-B1EF-CFE8F42E6530}">
      <dgm:prSet/>
      <dgm:spPr/>
      <dgm:t>
        <a:bodyPr/>
        <a:lstStyle/>
        <a:p>
          <a:endParaRPr lang="en-US"/>
        </a:p>
      </dgm:t>
    </dgm:pt>
    <dgm:pt modelId="{BAA10294-E351-4AA5-9573-53C63144D384}">
      <dgm:prSet custT="1"/>
      <dgm:spPr/>
      <dgm:t>
        <a:bodyPr/>
        <a:lstStyle/>
        <a:p>
          <a:r>
            <a:rPr lang="en-US" sz="1500" dirty="0"/>
            <a:t>Recommendation: build trust features – transparency, clear confirmations, robust error handling.</a:t>
          </a:r>
        </a:p>
      </dgm:t>
    </dgm:pt>
    <dgm:pt modelId="{CB33C437-E9DD-4DF9-B811-85185D726C70}" type="parTrans" cxnId="{D3975DE2-A220-4DA0-A3EF-ED4459BA24A6}">
      <dgm:prSet/>
      <dgm:spPr/>
      <dgm:t>
        <a:bodyPr/>
        <a:lstStyle/>
        <a:p>
          <a:endParaRPr lang="en-US"/>
        </a:p>
      </dgm:t>
    </dgm:pt>
    <dgm:pt modelId="{970078D4-2DC5-4977-9146-D45EB5BED627}" type="sibTrans" cxnId="{D3975DE2-A220-4DA0-A3EF-ED4459BA24A6}">
      <dgm:prSet/>
      <dgm:spPr/>
      <dgm:t>
        <a:bodyPr/>
        <a:lstStyle/>
        <a:p>
          <a:endParaRPr lang="en-US"/>
        </a:p>
      </dgm:t>
    </dgm:pt>
    <dgm:pt modelId="{4662B70F-DCAD-49EF-B1FD-C546E0BC089E}">
      <dgm:prSet/>
      <dgm:spPr/>
      <dgm:t>
        <a:bodyPr/>
        <a:lstStyle/>
        <a:p>
          <a:r>
            <a:rPr lang="en-US"/>
            <a:t>Insight 2 – Convenience still matters</a:t>
          </a:r>
        </a:p>
      </dgm:t>
    </dgm:pt>
    <dgm:pt modelId="{6B372D59-DC5A-40B4-8B13-1364D107AC98}" type="parTrans" cxnId="{62A7D795-C5C0-4D26-A438-7681663DA8B0}">
      <dgm:prSet/>
      <dgm:spPr/>
      <dgm:t>
        <a:bodyPr/>
        <a:lstStyle/>
        <a:p>
          <a:endParaRPr lang="en-US"/>
        </a:p>
      </dgm:t>
    </dgm:pt>
    <dgm:pt modelId="{87D80CF6-C60F-4DD4-8B79-1185B4AE1916}" type="sibTrans" cxnId="{62A7D795-C5C0-4D26-A438-7681663DA8B0}">
      <dgm:prSet/>
      <dgm:spPr/>
      <dgm:t>
        <a:bodyPr/>
        <a:lstStyle/>
        <a:p>
          <a:endParaRPr lang="en-US"/>
        </a:p>
      </dgm:t>
    </dgm:pt>
    <dgm:pt modelId="{D6D1F44E-7BB8-4C92-96AF-C8BC26C027E5}">
      <dgm:prSet custT="1"/>
      <dgm:spPr/>
      <dgm:t>
        <a:bodyPr/>
        <a:lstStyle/>
        <a:p>
          <a:r>
            <a:rPr lang="en-US" sz="1500"/>
            <a:t>Higher perceived convenience → higher preference (H2).</a:t>
          </a:r>
        </a:p>
      </dgm:t>
    </dgm:pt>
    <dgm:pt modelId="{7F1D02B6-409F-4D7E-988D-5DD2F2B90A04}" type="parTrans" cxnId="{6363841D-0F36-4D20-950E-E9995F54E977}">
      <dgm:prSet/>
      <dgm:spPr/>
      <dgm:t>
        <a:bodyPr/>
        <a:lstStyle/>
        <a:p>
          <a:endParaRPr lang="en-US"/>
        </a:p>
      </dgm:t>
    </dgm:pt>
    <dgm:pt modelId="{32FF7E7F-64E1-44E0-B0C0-E666E93E46F0}" type="sibTrans" cxnId="{6363841D-0F36-4D20-950E-E9995F54E977}">
      <dgm:prSet/>
      <dgm:spPr/>
      <dgm:t>
        <a:bodyPr/>
        <a:lstStyle/>
        <a:p>
          <a:endParaRPr lang="en-US"/>
        </a:p>
      </dgm:t>
    </dgm:pt>
    <dgm:pt modelId="{05B25FA0-2728-47A3-833F-0315719B1E0E}">
      <dgm:prSet custT="1"/>
      <dgm:spPr/>
      <dgm:t>
        <a:bodyPr/>
        <a:lstStyle/>
        <a:p>
          <a:r>
            <a:rPr lang="en-US" sz="1500" dirty="0"/>
            <a:t>Recommendation: optimise “time-to-resolution” and highlight 24/7 availability.</a:t>
          </a:r>
        </a:p>
      </dgm:t>
    </dgm:pt>
    <dgm:pt modelId="{80349F3D-6ABB-4F0D-9454-EBF252BFA410}" type="parTrans" cxnId="{D79A4386-8BF2-4F47-B510-A2D5EE164DF9}">
      <dgm:prSet/>
      <dgm:spPr/>
      <dgm:t>
        <a:bodyPr/>
        <a:lstStyle/>
        <a:p>
          <a:endParaRPr lang="en-US"/>
        </a:p>
      </dgm:t>
    </dgm:pt>
    <dgm:pt modelId="{E0796EDE-CE1D-452A-A6B2-BED9EFFE2855}" type="sibTrans" cxnId="{D79A4386-8BF2-4F47-B510-A2D5EE164DF9}">
      <dgm:prSet/>
      <dgm:spPr/>
      <dgm:t>
        <a:bodyPr/>
        <a:lstStyle/>
        <a:p>
          <a:endParaRPr lang="en-US"/>
        </a:p>
      </dgm:t>
    </dgm:pt>
    <dgm:pt modelId="{E725B190-D31E-4468-8834-3EF7EC493CBA}">
      <dgm:prSet/>
      <dgm:spPr/>
      <dgm:t>
        <a:bodyPr/>
        <a:lstStyle/>
        <a:p>
          <a:r>
            <a:rPr lang="en-US"/>
            <a:t>Insight 3 – Experience beats demographics</a:t>
          </a:r>
        </a:p>
      </dgm:t>
    </dgm:pt>
    <dgm:pt modelId="{C7344A16-6F99-4C80-A34D-F12F3830EA44}" type="parTrans" cxnId="{1D714185-4083-4837-B5E4-1D8CE9A91091}">
      <dgm:prSet/>
      <dgm:spPr/>
      <dgm:t>
        <a:bodyPr/>
        <a:lstStyle/>
        <a:p>
          <a:endParaRPr lang="en-US"/>
        </a:p>
      </dgm:t>
    </dgm:pt>
    <dgm:pt modelId="{4EACBD2E-8E55-4832-8703-BB3A97AB3D4E}" type="sibTrans" cxnId="{1D714185-4083-4837-B5E4-1D8CE9A91091}">
      <dgm:prSet/>
      <dgm:spPr/>
      <dgm:t>
        <a:bodyPr/>
        <a:lstStyle/>
        <a:p>
          <a:endParaRPr lang="en-US"/>
        </a:p>
      </dgm:t>
    </dgm:pt>
    <dgm:pt modelId="{0E8650A0-BF38-4608-B0EC-CABA949D97EC}">
      <dgm:prSet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sz="1500" dirty="0"/>
            <a:t>Tech comfort does not split attitudes, but AI frequency does (H3 rejected, H4 partially accepted).</a:t>
          </a:r>
        </a:p>
      </dgm:t>
    </dgm:pt>
    <dgm:pt modelId="{3D3BA39B-EC9E-49D2-930F-87F59C679EDB}" type="parTrans" cxnId="{EEF0D7CD-8BBD-4EF9-8D49-9E093C78F4A2}">
      <dgm:prSet/>
      <dgm:spPr/>
      <dgm:t>
        <a:bodyPr/>
        <a:lstStyle/>
        <a:p>
          <a:endParaRPr lang="en-US"/>
        </a:p>
      </dgm:t>
    </dgm:pt>
    <dgm:pt modelId="{536F481B-B11F-48A0-9881-4FA28ED59F17}" type="sibTrans" cxnId="{EEF0D7CD-8BBD-4EF9-8D49-9E093C78F4A2}">
      <dgm:prSet/>
      <dgm:spPr/>
      <dgm:t>
        <a:bodyPr/>
        <a:lstStyle/>
        <a:p>
          <a:endParaRPr lang="en-US"/>
        </a:p>
      </dgm:t>
    </dgm:pt>
    <dgm:pt modelId="{02D975D7-23F1-4E43-80EB-13087F833809}">
      <dgm:prSet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sz="1500" dirty="0"/>
            <a:t>Recommendation: design first-time and low-frequency user journeys with extra guidance and reassurance.</a:t>
          </a:r>
        </a:p>
      </dgm:t>
    </dgm:pt>
    <dgm:pt modelId="{AFC52F8B-7BCC-45A5-936E-9D9B750BAC03}" type="parTrans" cxnId="{07D304D3-A2AC-4080-B065-36511D3C8AF2}">
      <dgm:prSet/>
      <dgm:spPr/>
      <dgm:t>
        <a:bodyPr/>
        <a:lstStyle/>
        <a:p>
          <a:endParaRPr lang="en-US"/>
        </a:p>
      </dgm:t>
    </dgm:pt>
    <dgm:pt modelId="{F0FBA3B6-1887-4410-9287-33AC233583C7}" type="sibTrans" cxnId="{07D304D3-A2AC-4080-B065-36511D3C8AF2}">
      <dgm:prSet/>
      <dgm:spPr/>
      <dgm:t>
        <a:bodyPr/>
        <a:lstStyle/>
        <a:p>
          <a:endParaRPr lang="en-US"/>
        </a:p>
      </dgm:t>
    </dgm:pt>
    <dgm:pt modelId="{5C8F1D75-C4E0-412C-814F-8E833F79B5FB}">
      <dgm:prSet/>
      <dgm:spPr/>
      <dgm:t>
        <a:bodyPr/>
        <a:lstStyle/>
        <a:p>
          <a:r>
            <a:rPr lang="en-US"/>
            <a:t>Insight 4 – Role of humans</a:t>
          </a:r>
        </a:p>
      </dgm:t>
    </dgm:pt>
    <dgm:pt modelId="{A805F22C-0F5C-4DAF-BA01-1F47356F7A10}" type="parTrans" cxnId="{CB5AADE8-A11F-44F6-BFB9-3F8699E8DBCB}">
      <dgm:prSet/>
      <dgm:spPr/>
      <dgm:t>
        <a:bodyPr/>
        <a:lstStyle/>
        <a:p>
          <a:endParaRPr lang="en-US"/>
        </a:p>
      </dgm:t>
    </dgm:pt>
    <dgm:pt modelId="{C9DD4360-E586-4F0C-A8A0-23D985FE7BE5}" type="sibTrans" cxnId="{CB5AADE8-A11F-44F6-BFB9-3F8699E8DBCB}">
      <dgm:prSet/>
      <dgm:spPr/>
      <dgm:t>
        <a:bodyPr/>
        <a:lstStyle/>
        <a:p>
          <a:endParaRPr lang="en-US"/>
        </a:p>
      </dgm:t>
    </dgm:pt>
    <dgm:pt modelId="{D0C2E5F2-9530-45F6-8901-402109AD204E}">
      <dgm:prSet custT="1"/>
      <dgm:spPr/>
      <dgm:t>
        <a:bodyPr/>
        <a:lstStyle/>
        <a:p>
          <a:r>
            <a:rPr lang="en-US" sz="1500" dirty="0"/>
            <a:t>Recommendation: position AI as first line for simple, transactional tasks, with smooth escalation to human agents for complex or emotional cases.</a:t>
          </a:r>
        </a:p>
      </dgm:t>
    </dgm:pt>
    <dgm:pt modelId="{14A885C0-A36A-4261-AF9F-C7F91212624A}" type="parTrans" cxnId="{60870F20-1591-4688-AC32-19A2983FB342}">
      <dgm:prSet/>
      <dgm:spPr/>
      <dgm:t>
        <a:bodyPr/>
        <a:lstStyle/>
        <a:p>
          <a:endParaRPr lang="en-US"/>
        </a:p>
      </dgm:t>
    </dgm:pt>
    <dgm:pt modelId="{7DAA2373-8CD6-40DA-AE16-D90EA5D4DC97}" type="sibTrans" cxnId="{60870F20-1591-4688-AC32-19A2983FB342}">
      <dgm:prSet/>
      <dgm:spPr/>
      <dgm:t>
        <a:bodyPr/>
        <a:lstStyle/>
        <a:p>
          <a:endParaRPr lang="en-US"/>
        </a:p>
      </dgm:t>
    </dgm:pt>
    <dgm:pt modelId="{68EFE248-3795-4326-8879-B5826C1FADD5}" type="pres">
      <dgm:prSet presAssocID="{685F5B71-5FBD-40AA-92C4-77C89A3E5D54}" presName="Name0" presStyleCnt="0">
        <dgm:presLayoutVars>
          <dgm:dir/>
          <dgm:animLvl val="lvl"/>
          <dgm:resizeHandles val="exact"/>
        </dgm:presLayoutVars>
      </dgm:prSet>
      <dgm:spPr/>
    </dgm:pt>
    <dgm:pt modelId="{9519EE69-4526-4ACB-AE4E-C3DAC9092002}" type="pres">
      <dgm:prSet presAssocID="{790AC41D-0D0E-4E05-85EF-9CB66016ACF6}" presName="linNode" presStyleCnt="0"/>
      <dgm:spPr/>
    </dgm:pt>
    <dgm:pt modelId="{E9E7E02D-236E-412A-B9AF-8B52DA89ED19}" type="pres">
      <dgm:prSet presAssocID="{790AC41D-0D0E-4E05-85EF-9CB66016ACF6}" presName="parentText" presStyleLbl="alignNode1" presStyleIdx="0" presStyleCnt="4">
        <dgm:presLayoutVars>
          <dgm:chMax val="1"/>
          <dgm:bulletEnabled/>
        </dgm:presLayoutVars>
      </dgm:prSet>
      <dgm:spPr/>
    </dgm:pt>
    <dgm:pt modelId="{B7F333FE-6091-48DB-A10D-F7B286D33DD6}" type="pres">
      <dgm:prSet presAssocID="{790AC41D-0D0E-4E05-85EF-9CB66016ACF6}" presName="descendantText" presStyleLbl="alignAccFollowNode1" presStyleIdx="0" presStyleCnt="4">
        <dgm:presLayoutVars>
          <dgm:bulletEnabled/>
        </dgm:presLayoutVars>
      </dgm:prSet>
      <dgm:spPr/>
    </dgm:pt>
    <dgm:pt modelId="{6694E052-1182-4809-8007-F8CA061F1B2E}" type="pres">
      <dgm:prSet presAssocID="{E6BC26B5-643D-4E78-AA4D-EBAFB617F0CD}" presName="sp" presStyleCnt="0"/>
      <dgm:spPr/>
    </dgm:pt>
    <dgm:pt modelId="{8AB29E4D-962F-43BE-8593-B10AA2180A99}" type="pres">
      <dgm:prSet presAssocID="{4662B70F-DCAD-49EF-B1FD-C546E0BC089E}" presName="linNode" presStyleCnt="0"/>
      <dgm:spPr/>
    </dgm:pt>
    <dgm:pt modelId="{181020F6-CC8A-4A1A-912A-A248FAD57BB1}" type="pres">
      <dgm:prSet presAssocID="{4662B70F-DCAD-49EF-B1FD-C546E0BC089E}" presName="parentText" presStyleLbl="alignNode1" presStyleIdx="1" presStyleCnt="4">
        <dgm:presLayoutVars>
          <dgm:chMax val="1"/>
          <dgm:bulletEnabled/>
        </dgm:presLayoutVars>
      </dgm:prSet>
      <dgm:spPr/>
    </dgm:pt>
    <dgm:pt modelId="{9900303B-BE34-430C-A67E-D007AE70914F}" type="pres">
      <dgm:prSet presAssocID="{4662B70F-DCAD-49EF-B1FD-C546E0BC089E}" presName="descendantText" presStyleLbl="alignAccFollowNode1" presStyleIdx="1" presStyleCnt="4">
        <dgm:presLayoutVars>
          <dgm:bulletEnabled/>
        </dgm:presLayoutVars>
      </dgm:prSet>
      <dgm:spPr/>
    </dgm:pt>
    <dgm:pt modelId="{70F4CD08-92A1-444D-AA55-B051D7C95EF1}" type="pres">
      <dgm:prSet presAssocID="{87D80CF6-C60F-4DD4-8B79-1185B4AE1916}" presName="sp" presStyleCnt="0"/>
      <dgm:spPr/>
    </dgm:pt>
    <dgm:pt modelId="{E37D0458-A6D1-4CD8-AAC8-DF45A8159E92}" type="pres">
      <dgm:prSet presAssocID="{E725B190-D31E-4468-8834-3EF7EC493CBA}" presName="linNode" presStyleCnt="0"/>
      <dgm:spPr/>
    </dgm:pt>
    <dgm:pt modelId="{1028C328-11D3-4E7F-94E6-D48E55FAD1CE}" type="pres">
      <dgm:prSet presAssocID="{E725B190-D31E-4468-8834-3EF7EC493CBA}" presName="parentText" presStyleLbl="alignNode1" presStyleIdx="2" presStyleCnt="4">
        <dgm:presLayoutVars>
          <dgm:chMax val="1"/>
          <dgm:bulletEnabled/>
        </dgm:presLayoutVars>
      </dgm:prSet>
      <dgm:spPr/>
    </dgm:pt>
    <dgm:pt modelId="{E40E0DF0-8A3F-49D0-9D69-C7BEC0CBA9D2}" type="pres">
      <dgm:prSet presAssocID="{E725B190-D31E-4468-8834-3EF7EC493CBA}" presName="descendantText" presStyleLbl="alignAccFollowNode1" presStyleIdx="2" presStyleCnt="4">
        <dgm:presLayoutVars>
          <dgm:bulletEnabled/>
        </dgm:presLayoutVars>
      </dgm:prSet>
      <dgm:spPr/>
    </dgm:pt>
    <dgm:pt modelId="{E5F46401-0564-4EB3-A635-5DF493A1F0BD}" type="pres">
      <dgm:prSet presAssocID="{4EACBD2E-8E55-4832-8703-BB3A97AB3D4E}" presName="sp" presStyleCnt="0"/>
      <dgm:spPr/>
    </dgm:pt>
    <dgm:pt modelId="{D276A57C-F7E3-423E-9DE0-C72C4ED47ACF}" type="pres">
      <dgm:prSet presAssocID="{5C8F1D75-C4E0-412C-814F-8E833F79B5FB}" presName="linNode" presStyleCnt="0"/>
      <dgm:spPr/>
    </dgm:pt>
    <dgm:pt modelId="{C8834BF3-A982-45DD-BF72-1AD121D4D28B}" type="pres">
      <dgm:prSet presAssocID="{5C8F1D75-C4E0-412C-814F-8E833F79B5FB}" presName="parentText" presStyleLbl="alignNode1" presStyleIdx="3" presStyleCnt="4">
        <dgm:presLayoutVars>
          <dgm:chMax val="1"/>
          <dgm:bulletEnabled/>
        </dgm:presLayoutVars>
      </dgm:prSet>
      <dgm:spPr/>
    </dgm:pt>
    <dgm:pt modelId="{759D4750-8407-4705-95B5-5511AF9E2BAA}" type="pres">
      <dgm:prSet presAssocID="{5C8F1D75-C4E0-412C-814F-8E833F79B5FB}" presName="descendantText" presStyleLbl="alignAccFollowNode1" presStyleIdx="3" presStyleCnt="4">
        <dgm:presLayoutVars>
          <dgm:bulletEnabled/>
        </dgm:presLayoutVars>
      </dgm:prSet>
      <dgm:spPr/>
    </dgm:pt>
  </dgm:ptLst>
  <dgm:cxnLst>
    <dgm:cxn modelId="{9193A500-1610-4C87-AC32-B57177D9FA17}" type="presOf" srcId="{E725B190-D31E-4468-8834-3EF7EC493CBA}" destId="{1028C328-11D3-4E7F-94E6-D48E55FAD1CE}" srcOrd="0" destOrd="0" presId="urn:microsoft.com/office/officeart/2016/7/layout/VerticalSolidActionList"/>
    <dgm:cxn modelId="{D0EFBD08-E281-4B1F-ABED-E9A6CA9F02DC}" type="presOf" srcId="{02D975D7-23F1-4E43-80EB-13087F833809}" destId="{E40E0DF0-8A3F-49D0-9D69-C7BEC0CBA9D2}" srcOrd="0" destOrd="1" presId="urn:microsoft.com/office/officeart/2016/7/layout/VerticalSolidActionList"/>
    <dgm:cxn modelId="{6363841D-0F36-4D20-950E-E9995F54E977}" srcId="{4662B70F-DCAD-49EF-B1FD-C546E0BC089E}" destId="{D6D1F44E-7BB8-4C92-96AF-C8BC26C027E5}" srcOrd="0" destOrd="0" parTransId="{7F1D02B6-409F-4D7E-988D-5DD2F2B90A04}" sibTransId="{32FF7E7F-64E1-44E0-B0C0-E666E93E46F0}"/>
    <dgm:cxn modelId="{60870F20-1591-4688-AC32-19A2983FB342}" srcId="{5C8F1D75-C4E0-412C-814F-8E833F79B5FB}" destId="{D0C2E5F2-9530-45F6-8901-402109AD204E}" srcOrd="0" destOrd="0" parTransId="{14A885C0-A36A-4261-AF9F-C7F91212624A}" sibTransId="{7DAA2373-8CD6-40DA-AE16-D90EA5D4DC97}"/>
    <dgm:cxn modelId="{DEC2065D-CE6C-4092-A748-B189C6464361}" type="presOf" srcId="{0E8650A0-BF38-4608-B0EC-CABA949D97EC}" destId="{E40E0DF0-8A3F-49D0-9D69-C7BEC0CBA9D2}" srcOrd="0" destOrd="0" presId="urn:microsoft.com/office/officeart/2016/7/layout/VerticalSolidActionList"/>
    <dgm:cxn modelId="{7E2C8562-F496-467F-BBBD-7544EA268DCC}" type="presOf" srcId="{E79A2A5C-621F-4A79-A479-81C7D3F9C3D9}" destId="{B7F333FE-6091-48DB-A10D-F7B286D33DD6}" srcOrd="0" destOrd="0" presId="urn:microsoft.com/office/officeart/2016/7/layout/VerticalSolidActionList"/>
    <dgm:cxn modelId="{06DBDB67-C0F7-42E5-9868-9766FA3C54CF}" type="presOf" srcId="{685F5B71-5FBD-40AA-92C4-77C89A3E5D54}" destId="{68EFE248-3795-4326-8879-B5826C1FADD5}" srcOrd="0" destOrd="0" presId="urn:microsoft.com/office/officeart/2016/7/layout/VerticalSolidActionList"/>
    <dgm:cxn modelId="{F02EEC54-16C9-448E-AAAA-C0781B1489A6}" type="presOf" srcId="{D0C2E5F2-9530-45F6-8901-402109AD204E}" destId="{759D4750-8407-4705-95B5-5511AF9E2BAA}" srcOrd="0" destOrd="0" presId="urn:microsoft.com/office/officeart/2016/7/layout/VerticalSolidActionList"/>
    <dgm:cxn modelId="{1D714185-4083-4837-B5E4-1D8CE9A91091}" srcId="{685F5B71-5FBD-40AA-92C4-77C89A3E5D54}" destId="{E725B190-D31E-4468-8834-3EF7EC493CBA}" srcOrd="2" destOrd="0" parTransId="{C7344A16-6F99-4C80-A34D-F12F3830EA44}" sibTransId="{4EACBD2E-8E55-4832-8703-BB3A97AB3D4E}"/>
    <dgm:cxn modelId="{63EEC985-6A82-4CDB-85A6-06685647A171}" type="presOf" srcId="{D6D1F44E-7BB8-4C92-96AF-C8BC26C027E5}" destId="{9900303B-BE34-430C-A67E-D007AE70914F}" srcOrd="0" destOrd="0" presId="urn:microsoft.com/office/officeart/2016/7/layout/VerticalSolidActionList"/>
    <dgm:cxn modelId="{D79A4386-8BF2-4F47-B510-A2D5EE164DF9}" srcId="{4662B70F-DCAD-49EF-B1FD-C546E0BC089E}" destId="{05B25FA0-2728-47A3-833F-0315719B1E0E}" srcOrd="1" destOrd="0" parTransId="{80349F3D-6ABB-4F0D-9454-EBF252BFA410}" sibTransId="{E0796EDE-CE1D-452A-A6B2-BED9EFFE2855}"/>
    <dgm:cxn modelId="{62A7D795-C5C0-4D26-A438-7681663DA8B0}" srcId="{685F5B71-5FBD-40AA-92C4-77C89A3E5D54}" destId="{4662B70F-DCAD-49EF-B1FD-C546E0BC089E}" srcOrd="1" destOrd="0" parTransId="{6B372D59-DC5A-40B4-8B13-1364D107AC98}" sibTransId="{87D80CF6-C60F-4DD4-8B79-1185B4AE1916}"/>
    <dgm:cxn modelId="{849CB89B-546D-4F23-9393-87F8A8057541}" type="presOf" srcId="{790AC41D-0D0E-4E05-85EF-9CB66016ACF6}" destId="{E9E7E02D-236E-412A-B9AF-8B52DA89ED19}" srcOrd="0" destOrd="0" presId="urn:microsoft.com/office/officeart/2016/7/layout/VerticalSolidActionList"/>
    <dgm:cxn modelId="{5BF5A6A3-E239-48F6-B1EF-CFE8F42E6530}" srcId="{790AC41D-0D0E-4E05-85EF-9CB66016ACF6}" destId="{E79A2A5C-621F-4A79-A479-81C7D3F9C3D9}" srcOrd="0" destOrd="0" parTransId="{E5AF98A8-9032-409C-8BCC-0144D56A2F2F}" sibTransId="{89B03924-641C-4B3C-BCD7-CC75674E4630}"/>
    <dgm:cxn modelId="{D16761BE-CF5B-406B-BABB-F3387A3D5475}" type="presOf" srcId="{5C8F1D75-C4E0-412C-814F-8E833F79B5FB}" destId="{C8834BF3-A982-45DD-BF72-1AD121D4D28B}" srcOrd="0" destOrd="0" presId="urn:microsoft.com/office/officeart/2016/7/layout/VerticalSolidActionList"/>
    <dgm:cxn modelId="{2CF8FFCC-5AF3-4D72-ADC9-7507454AA044}" type="presOf" srcId="{05B25FA0-2728-47A3-833F-0315719B1E0E}" destId="{9900303B-BE34-430C-A67E-D007AE70914F}" srcOrd="0" destOrd="1" presId="urn:microsoft.com/office/officeart/2016/7/layout/VerticalSolidActionList"/>
    <dgm:cxn modelId="{EEF0D7CD-8BBD-4EF9-8D49-9E093C78F4A2}" srcId="{E725B190-D31E-4468-8834-3EF7EC493CBA}" destId="{0E8650A0-BF38-4608-B0EC-CABA949D97EC}" srcOrd="0" destOrd="0" parTransId="{3D3BA39B-EC9E-49D2-930F-87F59C679EDB}" sibTransId="{536F481B-B11F-48A0-9881-4FA28ED59F17}"/>
    <dgm:cxn modelId="{7A5287CE-DEFD-4981-8149-B1E61447F9FF}" type="presOf" srcId="{BAA10294-E351-4AA5-9573-53C63144D384}" destId="{B7F333FE-6091-48DB-A10D-F7B286D33DD6}" srcOrd="0" destOrd="1" presId="urn:microsoft.com/office/officeart/2016/7/layout/VerticalSolidActionList"/>
    <dgm:cxn modelId="{07D304D3-A2AC-4080-B065-36511D3C8AF2}" srcId="{E725B190-D31E-4468-8834-3EF7EC493CBA}" destId="{02D975D7-23F1-4E43-80EB-13087F833809}" srcOrd="1" destOrd="0" parTransId="{AFC52F8B-7BCC-45A5-936E-9D9B750BAC03}" sibTransId="{F0FBA3B6-1887-4410-9287-33AC233583C7}"/>
    <dgm:cxn modelId="{38C48BDC-5DD9-4875-9124-CC60C338927E}" srcId="{685F5B71-5FBD-40AA-92C4-77C89A3E5D54}" destId="{790AC41D-0D0E-4E05-85EF-9CB66016ACF6}" srcOrd="0" destOrd="0" parTransId="{A11DEBD3-464C-4BDA-A753-34144172A919}" sibTransId="{E6BC26B5-643D-4E78-AA4D-EBAFB617F0CD}"/>
    <dgm:cxn modelId="{D3975DE2-A220-4DA0-A3EF-ED4459BA24A6}" srcId="{790AC41D-0D0E-4E05-85EF-9CB66016ACF6}" destId="{BAA10294-E351-4AA5-9573-53C63144D384}" srcOrd="1" destOrd="0" parTransId="{CB33C437-E9DD-4DF9-B811-85185D726C70}" sibTransId="{970078D4-2DC5-4977-9146-D45EB5BED627}"/>
    <dgm:cxn modelId="{CB5AADE8-A11F-44F6-BFB9-3F8699E8DBCB}" srcId="{685F5B71-5FBD-40AA-92C4-77C89A3E5D54}" destId="{5C8F1D75-C4E0-412C-814F-8E833F79B5FB}" srcOrd="3" destOrd="0" parTransId="{A805F22C-0F5C-4DAF-BA01-1F47356F7A10}" sibTransId="{C9DD4360-E586-4F0C-A8A0-23D985FE7BE5}"/>
    <dgm:cxn modelId="{DD843DFF-37F0-4987-843C-8B48FB8DF90D}" type="presOf" srcId="{4662B70F-DCAD-49EF-B1FD-C546E0BC089E}" destId="{181020F6-CC8A-4A1A-912A-A248FAD57BB1}" srcOrd="0" destOrd="0" presId="urn:microsoft.com/office/officeart/2016/7/layout/VerticalSolidActionList"/>
    <dgm:cxn modelId="{57F845F9-928A-41BB-A2BC-15376AAE44BE}" type="presParOf" srcId="{68EFE248-3795-4326-8879-B5826C1FADD5}" destId="{9519EE69-4526-4ACB-AE4E-C3DAC9092002}" srcOrd="0" destOrd="0" presId="urn:microsoft.com/office/officeart/2016/7/layout/VerticalSolidActionList"/>
    <dgm:cxn modelId="{F6390E50-B9C0-4FDA-9AF8-0BE7A6C9BCA7}" type="presParOf" srcId="{9519EE69-4526-4ACB-AE4E-C3DAC9092002}" destId="{E9E7E02D-236E-412A-B9AF-8B52DA89ED19}" srcOrd="0" destOrd="0" presId="urn:microsoft.com/office/officeart/2016/7/layout/VerticalSolidActionList"/>
    <dgm:cxn modelId="{78880EF7-B7C6-4EC4-B508-02614AB7B82C}" type="presParOf" srcId="{9519EE69-4526-4ACB-AE4E-C3DAC9092002}" destId="{B7F333FE-6091-48DB-A10D-F7B286D33DD6}" srcOrd="1" destOrd="0" presId="urn:microsoft.com/office/officeart/2016/7/layout/VerticalSolidActionList"/>
    <dgm:cxn modelId="{8293B45E-C2EF-432B-92A9-24F21E1C4296}" type="presParOf" srcId="{68EFE248-3795-4326-8879-B5826C1FADD5}" destId="{6694E052-1182-4809-8007-F8CA061F1B2E}" srcOrd="1" destOrd="0" presId="urn:microsoft.com/office/officeart/2016/7/layout/VerticalSolidActionList"/>
    <dgm:cxn modelId="{0B740B80-9440-46E1-8F6B-7328FF35958E}" type="presParOf" srcId="{68EFE248-3795-4326-8879-B5826C1FADD5}" destId="{8AB29E4D-962F-43BE-8593-B10AA2180A99}" srcOrd="2" destOrd="0" presId="urn:microsoft.com/office/officeart/2016/7/layout/VerticalSolidActionList"/>
    <dgm:cxn modelId="{698D3573-E1B4-4AA0-9F81-32E0873E54D9}" type="presParOf" srcId="{8AB29E4D-962F-43BE-8593-B10AA2180A99}" destId="{181020F6-CC8A-4A1A-912A-A248FAD57BB1}" srcOrd="0" destOrd="0" presId="urn:microsoft.com/office/officeart/2016/7/layout/VerticalSolidActionList"/>
    <dgm:cxn modelId="{0C511550-9F11-4875-AFFD-88C50B1F510B}" type="presParOf" srcId="{8AB29E4D-962F-43BE-8593-B10AA2180A99}" destId="{9900303B-BE34-430C-A67E-D007AE70914F}" srcOrd="1" destOrd="0" presId="urn:microsoft.com/office/officeart/2016/7/layout/VerticalSolidActionList"/>
    <dgm:cxn modelId="{2669391E-555D-492A-911F-053E77AA63B1}" type="presParOf" srcId="{68EFE248-3795-4326-8879-B5826C1FADD5}" destId="{70F4CD08-92A1-444D-AA55-B051D7C95EF1}" srcOrd="3" destOrd="0" presId="urn:microsoft.com/office/officeart/2016/7/layout/VerticalSolidActionList"/>
    <dgm:cxn modelId="{2A812155-23C7-4A15-B188-E1EF9A42E77A}" type="presParOf" srcId="{68EFE248-3795-4326-8879-B5826C1FADD5}" destId="{E37D0458-A6D1-4CD8-AAC8-DF45A8159E92}" srcOrd="4" destOrd="0" presId="urn:microsoft.com/office/officeart/2016/7/layout/VerticalSolidActionList"/>
    <dgm:cxn modelId="{5117B2AD-1E1C-460A-A31B-80789624DD9A}" type="presParOf" srcId="{E37D0458-A6D1-4CD8-AAC8-DF45A8159E92}" destId="{1028C328-11D3-4E7F-94E6-D48E55FAD1CE}" srcOrd="0" destOrd="0" presId="urn:microsoft.com/office/officeart/2016/7/layout/VerticalSolidActionList"/>
    <dgm:cxn modelId="{3101CDBB-2582-41E6-8D6A-0D650C6E0EE5}" type="presParOf" srcId="{E37D0458-A6D1-4CD8-AAC8-DF45A8159E92}" destId="{E40E0DF0-8A3F-49D0-9D69-C7BEC0CBA9D2}" srcOrd="1" destOrd="0" presId="urn:microsoft.com/office/officeart/2016/7/layout/VerticalSolidActionList"/>
    <dgm:cxn modelId="{F2A9DD5B-B145-4953-8035-7E0609138927}" type="presParOf" srcId="{68EFE248-3795-4326-8879-B5826C1FADD5}" destId="{E5F46401-0564-4EB3-A635-5DF493A1F0BD}" srcOrd="5" destOrd="0" presId="urn:microsoft.com/office/officeart/2016/7/layout/VerticalSolidActionList"/>
    <dgm:cxn modelId="{16883220-3EE4-4589-A938-85E376E0FA70}" type="presParOf" srcId="{68EFE248-3795-4326-8879-B5826C1FADD5}" destId="{D276A57C-F7E3-423E-9DE0-C72C4ED47ACF}" srcOrd="6" destOrd="0" presId="urn:microsoft.com/office/officeart/2016/7/layout/VerticalSolidActionList"/>
    <dgm:cxn modelId="{70020728-08B8-4E2A-8011-A9616D78A7BE}" type="presParOf" srcId="{D276A57C-F7E3-423E-9DE0-C72C4ED47ACF}" destId="{C8834BF3-A982-45DD-BF72-1AD121D4D28B}" srcOrd="0" destOrd="0" presId="urn:microsoft.com/office/officeart/2016/7/layout/VerticalSolidActionList"/>
    <dgm:cxn modelId="{09B7A260-B17B-4A16-80A8-C5F72282CD23}" type="presParOf" srcId="{D276A57C-F7E3-423E-9DE0-C72C4ED47ACF}" destId="{759D4750-8407-4705-95B5-5511AF9E2BAA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1F6DED-BFA1-4CCD-8B0C-2A5B26CB542C}">
      <dsp:nvSpPr>
        <dsp:cNvPr id="0" name=""/>
        <dsp:cNvSpPr/>
      </dsp:nvSpPr>
      <dsp:spPr>
        <a:xfrm>
          <a:off x="1880390" y="1228998"/>
          <a:ext cx="4006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065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69936" y="1272561"/>
        <a:ext cx="21562" cy="4312"/>
      </dsp:txXfrm>
    </dsp:sp>
    <dsp:sp modelId="{D52B708A-50F0-46FC-8275-FA7B17EFD82D}">
      <dsp:nvSpPr>
        <dsp:cNvPr id="0" name=""/>
        <dsp:cNvSpPr/>
      </dsp:nvSpPr>
      <dsp:spPr>
        <a:xfrm>
          <a:off x="7163" y="712210"/>
          <a:ext cx="1875026" cy="11250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878" tIns="96442" rIns="91878" bIns="9644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Online survey, </a:t>
          </a:r>
          <a:r>
            <a:rPr lang="en-US" sz="1500" b="1" kern="1200"/>
            <a:t>n = 63</a:t>
          </a:r>
          <a:r>
            <a:rPr lang="en-US" sz="1500" kern="1200"/>
            <a:t> respondents.</a:t>
          </a:r>
        </a:p>
      </dsp:txBody>
      <dsp:txXfrm>
        <a:off x="7163" y="712210"/>
        <a:ext cx="1875026" cy="1125015"/>
      </dsp:txXfrm>
    </dsp:sp>
    <dsp:sp modelId="{9BD40C73-88AB-4605-8AF3-9782416E8409}">
      <dsp:nvSpPr>
        <dsp:cNvPr id="0" name=""/>
        <dsp:cNvSpPr/>
      </dsp:nvSpPr>
      <dsp:spPr>
        <a:xfrm>
          <a:off x="4186672" y="1228998"/>
          <a:ext cx="4006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065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76219" y="1272561"/>
        <a:ext cx="21562" cy="4312"/>
      </dsp:txXfrm>
    </dsp:sp>
    <dsp:sp modelId="{E16C8E0D-4E1C-4A54-826B-F4E4B862F85D}">
      <dsp:nvSpPr>
        <dsp:cNvPr id="0" name=""/>
        <dsp:cNvSpPr/>
      </dsp:nvSpPr>
      <dsp:spPr>
        <a:xfrm>
          <a:off x="2313446" y="712210"/>
          <a:ext cx="1875026" cy="11250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878" tIns="96442" rIns="91878" bIns="9644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5 constructs (5-point Likert: 1 = Strongly Disagree, 5 = Strongly Agree):</a:t>
          </a:r>
        </a:p>
      </dsp:txBody>
      <dsp:txXfrm>
        <a:off x="2313446" y="712210"/>
        <a:ext cx="1875026" cy="1125015"/>
      </dsp:txXfrm>
    </dsp:sp>
    <dsp:sp modelId="{D29930BA-BD39-46B1-AFAA-2C9D4FE97EE8}">
      <dsp:nvSpPr>
        <dsp:cNvPr id="0" name=""/>
        <dsp:cNvSpPr/>
      </dsp:nvSpPr>
      <dsp:spPr>
        <a:xfrm>
          <a:off x="6492955" y="1228998"/>
          <a:ext cx="4006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065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682501" y="1272561"/>
        <a:ext cx="21562" cy="4312"/>
      </dsp:txXfrm>
    </dsp:sp>
    <dsp:sp modelId="{72039A8B-0E01-4EA5-B1DC-9F42133E2BB3}">
      <dsp:nvSpPr>
        <dsp:cNvPr id="0" name=""/>
        <dsp:cNvSpPr/>
      </dsp:nvSpPr>
      <dsp:spPr>
        <a:xfrm>
          <a:off x="4619728" y="712210"/>
          <a:ext cx="1875026" cy="11250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878" tIns="96442" rIns="91878" bIns="9644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Helpfulness (Q4–Q8)</a:t>
          </a:r>
        </a:p>
      </dsp:txBody>
      <dsp:txXfrm>
        <a:off x="4619728" y="712210"/>
        <a:ext cx="1875026" cy="1125015"/>
      </dsp:txXfrm>
    </dsp:sp>
    <dsp:sp modelId="{90F1CA6D-147D-452A-8AA8-8276B0A1197A}">
      <dsp:nvSpPr>
        <dsp:cNvPr id="0" name=""/>
        <dsp:cNvSpPr/>
      </dsp:nvSpPr>
      <dsp:spPr>
        <a:xfrm>
          <a:off x="8799237" y="1228998"/>
          <a:ext cx="4006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065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988784" y="1272561"/>
        <a:ext cx="21562" cy="4312"/>
      </dsp:txXfrm>
    </dsp:sp>
    <dsp:sp modelId="{2F73C85C-8A48-44C5-B4CE-CE4AEDD31038}">
      <dsp:nvSpPr>
        <dsp:cNvPr id="0" name=""/>
        <dsp:cNvSpPr/>
      </dsp:nvSpPr>
      <dsp:spPr>
        <a:xfrm>
          <a:off x="6926011" y="712210"/>
          <a:ext cx="1875026" cy="11250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878" tIns="96442" rIns="91878" bIns="9644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Convenience (Q9–Q13)</a:t>
          </a:r>
        </a:p>
      </dsp:txBody>
      <dsp:txXfrm>
        <a:off x="6926011" y="712210"/>
        <a:ext cx="1875026" cy="1125015"/>
      </dsp:txXfrm>
    </dsp:sp>
    <dsp:sp modelId="{1515B780-CD04-4A11-B5A4-B4731C4BFB6C}">
      <dsp:nvSpPr>
        <dsp:cNvPr id="0" name=""/>
        <dsp:cNvSpPr/>
      </dsp:nvSpPr>
      <dsp:spPr>
        <a:xfrm>
          <a:off x="944676" y="1835425"/>
          <a:ext cx="9225130" cy="400656"/>
        </a:xfrm>
        <a:custGeom>
          <a:avLst/>
          <a:gdLst/>
          <a:ahLst/>
          <a:cxnLst/>
          <a:rect l="0" t="0" r="0" b="0"/>
          <a:pathLst>
            <a:path>
              <a:moveTo>
                <a:pt x="9225130" y="0"/>
              </a:moveTo>
              <a:lnTo>
                <a:pt x="9225130" y="217428"/>
              </a:lnTo>
              <a:lnTo>
                <a:pt x="0" y="217428"/>
              </a:lnTo>
              <a:lnTo>
                <a:pt x="0" y="400656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26361" y="2033597"/>
        <a:ext cx="461760" cy="4312"/>
      </dsp:txXfrm>
    </dsp:sp>
    <dsp:sp modelId="{9837BFA0-DEC8-4018-8F2E-4BF32D929455}">
      <dsp:nvSpPr>
        <dsp:cNvPr id="0" name=""/>
        <dsp:cNvSpPr/>
      </dsp:nvSpPr>
      <dsp:spPr>
        <a:xfrm>
          <a:off x="9232293" y="712210"/>
          <a:ext cx="1875026" cy="11250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878" tIns="96442" rIns="91878" bIns="9644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Trust (Q14–Q18)</a:t>
          </a:r>
        </a:p>
      </dsp:txBody>
      <dsp:txXfrm>
        <a:off x="9232293" y="712210"/>
        <a:ext cx="1875026" cy="1125015"/>
      </dsp:txXfrm>
    </dsp:sp>
    <dsp:sp modelId="{6ED191B2-FD4D-4B97-9732-7174E10ADCED}">
      <dsp:nvSpPr>
        <dsp:cNvPr id="0" name=""/>
        <dsp:cNvSpPr/>
      </dsp:nvSpPr>
      <dsp:spPr>
        <a:xfrm>
          <a:off x="1880390" y="2785269"/>
          <a:ext cx="4006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065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69936" y="2828833"/>
        <a:ext cx="21562" cy="4312"/>
      </dsp:txXfrm>
    </dsp:sp>
    <dsp:sp modelId="{1E9BADCE-CCF6-4D7E-911E-35ADB411CF2B}">
      <dsp:nvSpPr>
        <dsp:cNvPr id="0" name=""/>
        <dsp:cNvSpPr/>
      </dsp:nvSpPr>
      <dsp:spPr>
        <a:xfrm>
          <a:off x="7163" y="2268482"/>
          <a:ext cx="1875026" cy="11250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878" tIns="96442" rIns="91878" bIns="9644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Ease / Low Frustration (Q19–Q23)</a:t>
          </a:r>
        </a:p>
      </dsp:txBody>
      <dsp:txXfrm>
        <a:off x="7163" y="2268482"/>
        <a:ext cx="1875026" cy="1125015"/>
      </dsp:txXfrm>
    </dsp:sp>
    <dsp:sp modelId="{3FD701C3-BAE8-486A-88A0-090FCA1787D9}">
      <dsp:nvSpPr>
        <dsp:cNvPr id="0" name=""/>
        <dsp:cNvSpPr/>
      </dsp:nvSpPr>
      <dsp:spPr>
        <a:xfrm>
          <a:off x="4186672" y="2785269"/>
          <a:ext cx="4006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065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76219" y="2828833"/>
        <a:ext cx="21562" cy="4312"/>
      </dsp:txXfrm>
    </dsp:sp>
    <dsp:sp modelId="{0F3DB6BF-640B-4027-B304-7F54F16A3F45}">
      <dsp:nvSpPr>
        <dsp:cNvPr id="0" name=""/>
        <dsp:cNvSpPr/>
      </dsp:nvSpPr>
      <dsp:spPr>
        <a:xfrm>
          <a:off x="2313446" y="2268482"/>
          <a:ext cx="1875026" cy="11250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878" tIns="96442" rIns="91878" bIns="9644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Preference for AI vs human (Q24–Q30)</a:t>
          </a:r>
        </a:p>
      </dsp:txBody>
      <dsp:txXfrm>
        <a:off x="2313446" y="2268482"/>
        <a:ext cx="1875026" cy="1125015"/>
      </dsp:txXfrm>
    </dsp:sp>
    <dsp:sp modelId="{E81E9F9F-5862-450C-A394-1EBE61E64BEF}">
      <dsp:nvSpPr>
        <dsp:cNvPr id="0" name=""/>
        <dsp:cNvSpPr/>
      </dsp:nvSpPr>
      <dsp:spPr>
        <a:xfrm>
          <a:off x="6492955" y="2785269"/>
          <a:ext cx="4006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065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682501" y="2828833"/>
        <a:ext cx="21562" cy="4312"/>
      </dsp:txXfrm>
    </dsp:sp>
    <dsp:sp modelId="{CE23C834-6E0B-470B-91CB-5002AFE95664}">
      <dsp:nvSpPr>
        <dsp:cNvPr id="0" name=""/>
        <dsp:cNvSpPr/>
      </dsp:nvSpPr>
      <dsp:spPr>
        <a:xfrm>
          <a:off x="4619728" y="2268482"/>
          <a:ext cx="1875026" cy="11250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878" tIns="96442" rIns="91878" bIns="9644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Composite scores: mean of items per construct.</a:t>
          </a:r>
        </a:p>
      </dsp:txBody>
      <dsp:txXfrm>
        <a:off x="4619728" y="2268482"/>
        <a:ext cx="1875026" cy="1125015"/>
      </dsp:txXfrm>
    </dsp:sp>
    <dsp:sp modelId="{2CDC0D83-6FDE-48D6-A3E7-138A43BB313C}">
      <dsp:nvSpPr>
        <dsp:cNvPr id="0" name=""/>
        <dsp:cNvSpPr/>
      </dsp:nvSpPr>
      <dsp:spPr>
        <a:xfrm>
          <a:off x="6926011" y="2268482"/>
          <a:ext cx="1875026" cy="11250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878" tIns="96442" rIns="91878" bIns="9644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Key demographics &amp; experience: age group, tech comfort, AI usage frequency.</a:t>
          </a:r>
        </a:p>
      </dsp:txBody>
      <dsp:txXfrm>
        <a:off x="6926011" y="2268482"/>
        <a:ext cx="1875026" cy="11250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F333FE-6091-48DB-A10D-F7B286D33DD6}">
      <dsp:nvSpPr>
        <dsp:cNvPr id="0" name=""/>
        <dsp:cNvSpPr/>
      </dsp:nvSpPr>
      <dsp:spPr>
        <a:xfrm>
          <a:off x="1162225" y="2620"/>
          <a:ext cx="4648902" cy="1357171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202" tIns="344722" rIns="90202" bIns="344722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Trust strongly predicts Preference (H1 accepted) and is the strongest regression driver (H5).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Recommendation: build trust features – transparency, clear confirmations, robust error handling.</a:t>
          </a:r>
        </a:p>
      </dsp:txBody>
      <dsp:txXfrm>
        <a:off x="1162225" y="2620"/>
        <a:ext cx="4648902" cy="1357171"/>
      </dsp:txXfrm>
    </dsp:sp>
    <dsp:sp modelId="{E9E7E02D-236E-412A-B9AF-8B52DA89ED19}">
      <dsp:nvSpPr>
        <dsp:cNvPr id="0" name=""/>
        <dsp:cNvSpPr/>
      </dsp:nvSpPr>
      <dsp:spPr>
        <a:xfrm>
          <a:off x="0" y="2620"/>
          <a:ext cx="1162225" cy="135717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501" tIns="134058" rIns="61501" bIns="134058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Insight 1 – Trust as the main lever</a:t>
          </a:r>
          <a:endParaRPr lang="en-US" sz="1500" kern="1200"/>
        </a:p>
      </dsp:txBody>
      <dsp:txXfrm>
        <a:off x="0" y="2620"/>
        <a:ext cx="1162225" cy="1357171"/>
      </dsp:txXfrm>
    </dsp:sp>
    <dsp:sp modelId="{9900303B-BE34-430C-A67E-D007AE70914F}">
      <dsp:nvSpPr>
        <dsp:cNvPr id="0" name=""/>
        <dsp:cNvSpPr/>
      </dsp:nvSpPr>
      <dsp:spPr>
        <a:xfrm>
          <a:off x="1162225" y="1441222"/>
          <a:ext cx="4648902" cy="1357171"/>
        </a:xfrm>
        <a:prstGeom prst="rect">
          <a:avLst/>
        </a:prstGeom>
        <a:solidFill>
          <a:schemeClr val="accent5">
            <a:tint val="40000"/>
            <a:alpha val="90000"/>
            <a:hueOff val="-3981555"/>
            <a:satOff val="889"/>
            <a:lumOff val="134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3981555"/>
              <a:satOff val="889"/>
              <a:lumOff val="13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202" tIns="344722" rIns="90202" bIns="344722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Higher perceived convenience → higher preference (H2).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Recommendation: optimise “time-to-resolution” and highlight 24/7 availability.</a:t>
          </a:r>
        </a:p>
      </dsp:txBody>
      <dsp:txXfrm>
        <a:off x="1162225" y="1441222"/>
        <a:ext cx="4648902" cy="1357171"/>
      </dsp:txXfrm>
    </dsp:sp>
    <dsp:sp modelId="{181020F6-CC8A-4A1A-912A-A248FAD57BB1}">
      <dsp:nvSpPr>
        <dsp:cNvPr id="0" name=""/>
        <dsp:cNvSpPr/>
      </dsp:nvSpPr>
      <dsp:spPr>
        <a:xfrm>
          <a:off x="0" y="1441222"/>
          <a:ext cx="1162225" cy="1357171"/>
        </a:xfrm>
        <a:prstGeom prst="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accent5">
              <a:hueOff val="-4050717"/>
              <a:satOff val="-275"/>
              <a:lumOff val="6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501" tIns="134058" rIns="61501" bIns="134058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Insight 2 – Convenience still matters</a:t>
          </a:r>
        </a:p>
      </dsp:txBody>
      <dsp:txXfrm>
        <a:off x="0" y="1441222"/>
        <a:ext cx="1162225" cy="1357171"/>
      </dsp:txXfrm>
    </dsp:sp>
    <dsp:sp modelId="{E40E0DF0-8A3F-49D0-9D69-C7BEC0CBA9D2}">
      <dsp:nvSpPr>
        <dsp:cNvPr id="0" name=""/>
        <dsp:cNvSpPr/>
      </dsp:nvSpPr>
      <dsp:spPr>
        <a:xfrm>
          <a:off x="1162225" y="2879824"/>
          <a:ext cx="4648902" cy="1357171"/>
        </a:xfrm>
        <a:prstGeom prst="rect">
          <a:avLst/>
        </a:prstGeom>
        <a:solidFill>
          <a:schemeClr val="accent5">
            <a:tint val="40000"/>
            <a:alpha val="90000"/>
            <a:hueOff val="-7963110"/>
            <a:satOff val="1778"/>
            <a:lumOff val="267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7963110"/>
              <a:satOff val="1778"/>
              <a:lumOff val="26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202" tIns="344722" rIns="90202" bIns="344722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500" kern="1200" dirty="0"/>
            <a:t>Tech comfort does not split attitudes, but AI frequency does (H3 rejected, H4 partially accepted).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500" kern="1200" dirty="0"/>
            <a:t>Recommendation: design first-time and low-frequency user journeys with extra guidance and reassurance.</a:t>
          </a:r>
        </a:p>
      </dsp:txBody>
      <dsp:txXfrm>
        <a:off x="1162225" y="2879824"/>
        <a:ext cx="4648902" cy="1357171"/>
      </dsp:txXfrm>
    </dsp:sp>
    <dsp:sp modelId="{1028C328-11D3-4E7F-94E6-D48E55FAD1CE}">
      <dsp:nvSpPr>
        <dsp:cNvPr id="0" name=""/>
        <dsp:cNvSpPr/>
      </dsp:nvSpPr>
      <dsp:spPr>
        <a:xfrm>
          <a:off x="0" y="2879824"/>
          <a:ext cx="1162225" cy="1357171"/>
        </a:xfrm>
        <a:prstGeom prst="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accent5">
              <a:hueOff val="-8101434"/>
              <a:satOff val="-551"/>
              <a:lumOff val="13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501" tIns="134058" rIns="61501" bIns="134058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Insight 3 – Experience beats demographics</a:t>
          </a:r>
        </a:p>
      </dsp:txBody>
      <dsp:txXfrm>
        <a:off x="0" y="2879824"/>
        <a:ext cx="1162225" cy="1357171"/>
      </dsp:txXfrm>
    </dsp:sp>
    <dsp:sp modelId="{759D4750-8407-4705-95B5-5511AF9E2BAA}">
      <dsp:nvSpPr>
        <dsp:cNvPr id="0" name=""/>
        <dsp:cNvSpPr/>
      </dsp:nvSpPr>
      <dsp:spPr>
        <a:xfrm>
          <a:off x="1162225" y="4318426"/>
          <a:ext cx="4648902" cy="1357171"/>
        </a:xfrm>
        <a:prstGeom prst="rect">
          <a:avLst/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11944666"/>
              <a:satOff val="2667"/>
              <a:lumOff val="4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202" tIns="344722" rIns="90202" bIns="344722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Recommendation: position AI as first line for simple, transactional tasks, with smooth escalation to human agents for complex or emotional cases.</a:t>
          </a:r>
        </a:p>
      </dsp:txBody>
      <dsp:txXfrm>
        <a:off x="1162225" y="4318426"/>
        <a:ext cx="4648902" cy="1357171"/>
      </dsp:txXfrm>
    </dsp:sp>
    <dsp:sp modelId="{C8834BF3-A982-45DD-BF72-1AD121D4D28B}">
      <dsp:nvSpPr>
        <dsp:cNvPr id="0" name=""/>
        <dsp:cNvSpPr/>
      </dsp:nvSpPr>
      <dsp:spPr>
        <a:xfrm>
          <a:off x="0" y="4318426"/>
          <a:ext cx="1162225" cy="1357171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501" tIns="134058" rIns="61501" bIns="134058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Insight 4 – Role of humans</a:t>
          </a:r>
        </a:p>
      </dsp:txBody>
      <dsp:txXfrm>
        <a:off x="0" y="4318426"/>
        <a:ext cx="1162225" cy="13571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6C11E-EC95-4392-A630-CA0DFD19117A}" type="datetimeFigureOut">
              <a:rPr lang="en-US" smtClean="0"/>
              <a:t>2025-12-03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AB745-4E22-471C-B1E5-A91BC0A11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126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85C1B-9356-4A66-A65D-C7B76AC0613C}" type="datetimeFigureOut">
              <a:rPr lang="en-US" smtClean="0"/>
              <a:t>2025-12-03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93599-4228-465D-B6BB-D7B40DC5C6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939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85C1B-9356-4A66-A65D-C7B76AC0613C}" type="datetimeFigureOut">
              <a:rPr lang="en-US" smtClean="0"/>
              <a:t>2025-12-03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93599-4228-465D-B6BB-D7B40DC5C6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244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85C1B-9356-4A66-A65D-C7B76AC0613C}" type="datetimeFigureOut">
              <a:rPr lang="en-US" smtClean="0"/>
              <a:t>2025-12-03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93599-4228-465D-B6BB-D7B40DC5C6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828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85C1B-9356-4A66-A65D-C7B76AC0613C}" type="datetimeFigureOut">
              <a:rPr lang="en-US" smtClean="0"/>
              <a:t>2025-12-03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93599-4228-465D-B6BB-D7B40DC5C6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253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85C1B-9356-4A66-A65D-C7B76AC0613C}" type="datetimeFigureOut">
              <a:rPr lang="en-US" smtClean="0"/>
              <a:t>2025-12-03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93599-4228-465D-B6BB-D7B40DC5C6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673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85C1B-9356-4A66-A65D-C7B76AC0613C}" type="datetimeFigureOut">
              <a:rPr lang="en-US" smtClean="0"/>
              <a:t>2025-12-03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93599-4228-465D-B6BB-D7B40DC5C6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405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85C1B-9356-4A66-A65D-C7B76AC0613C}" type="datetimeFigureOut">
              <a:rPr lang="en-US" smtClean="0"/>
              <a:t>2025-12-03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93599-4228-465D-B6BB-D7B40DC5C6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098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85C1B-9356-4A66-A65D-C7B76AC0613C}" type="datetimeFigureOut">
              <a:rPr lang="en-US" smtClean="0"/>
              <a:t>2025-12-03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93599-4228-465D-B6BB-D7B40DC5C6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255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85C1B-9356-4A66-A65D-C7B76AC0613C}" type="datetimeFigureOut">
              <a:rPr lang="en-US" smtClean="0"/>
              <a:t>2025-12-03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93599-4228-465D-B6BB-D7B40DC5C6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007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85C1B-9356-4A66-A65D-C7B76AC0613C}" type="datetimeFigureOut">
              <a:rPr lang="en-US" smtClean="0"/>
              <a:t>2025-12-03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93599-4228-465D-B6BB-D7B40DC5C6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3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85C1B-9356-4A66-A65D-C7B76AC0613C}" type="datetimeFigureOut">
              <a:rPr lang="en-US" smtClean="0"/>
              <a:t>2025-12-03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93599-4228-465D-B6BB-D7B40DC5C6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492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085C1B-9356-4A66-A65D-C7B76AC0613C}" type="datetimeFigureOut">
              <a:rPr lang="en-US" smtClean="0"/>
              <a:t>2025-12-03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393599-4228-465D-B6BB-D7B40DC5C6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876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13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microsoft.com/office/2007/relationships/hdphoto" Target="../media/hdphoto1.wdp"/><Relationship Id="rId7" Type="http://schemas.openxmlformats.org/officeDocument/2006/relationships/image" Target="../media/image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3.png"/><Relationship Id="rId10" Type="http://schemas.openxmlformats.org/officeDocument/2006/relationships/image" Target="../media/image22.png"/><Relationship Id="rId4" Type="http://schemas.openxmlformats.org/officeDocument/2006/relationships/image" Target="../media/image6.png"/><Relationship Id="rId9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microsoft.com/office/2007/relationships/hdphoto" Target="../media/hdphoto2.wdp"/><Relationship Id="rId7" Type="http://schemas.openxmlformats.org/officeDocument/2006/relationships/image" Target="../media/image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27.png"/><Relationship Id="rId10" Type="http://schemas.openxmlformats.org/officeDocument/2006/relationships/image" Target="../media/image23.png"/><Relationship Id="rId4" Type="http://schemas.openxmlformats.org/officeDocument/2006/relationships/image" Target="../media/image6.png"/><Relationship Id="rId9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6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AEED0-1BE5-BCE6-2FD5-BC151F5CF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1ACC7DB-5EB1-AC13-54D8-9BC71CBC61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36" b="7136"/>
          <a:stretch/>
        </p:blipFill>
        <p:spPr>
          <a:xfrm>
            <a:off x="-11575" y="-121920"/>
            <a:ext cx="12280739" cy="701174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A752ED7-B3A1-53F1-B48E-A375AFEC87D4}"/>
              </a:ext>
            </a:extLst>
          </p:cNvPr>
          <p:cNvSpPr txBox="1"/>
          <p:nvPr/>
        </p:nvSpPr>
        <p:spPr>
          <a:xfrm>
            <a:off x="439839" y="4850739"/>
            <a:ext cx="59146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Insights Division – OmniAssist Technologies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Karthik Ramu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Nargus Batool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Mohammadali Ghaderi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07D29B-54A1-5158-0D01-71DC52FBCA0A}"/>
              </a:ext>
            </a:extLst>
          </p:cNvPr>
          <p:cNvSpPr txBox="1"/>
          <p:nvPr/>
        </p:nvSpPr>
        <p:spPr>
          <a:xfrm>
            <a:off x="290327" y="606505"/>
            <a:ext cx="776616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 Attitudes Toward AI</a:t>
            </a:r>
          </a:p>
          <a:p>
            <a:r>
              <a:rPr lang="en-US" sz="5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Customer Service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966E57-7FA9-D0E8-EF4A-7B886A2CE34A}"/>
              </a:ext>
            </a:extLst>
          </p:cNvPr>
          <p:cNvSpPr txBox="1"/>
          <p:nvPr/>
        </p:nvSpPr>
        <p:spPr>
          <a:xfrm>
            <a:off x="290327" y="2475163"/>
            <a:ext cx="64854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5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Insight for OmniAssist</a:t>
            </a:r>
          </a:p>
        </p:txBody>
      </p:sp>
    </p:spTree>
    <p:extLst>
      <p:ext uri="{BB962C8B-B14F-4D97-AF65-F5344CB8AC3E}">
        <p14:creationId xmlns:p14="http://schemas.microsoft.com/office/powerpoint/2010/main" val="868893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70BCFE8-AE53-DC83-9373-CE97419713C0}"/>
              </a:ext>
            </a:extLst>
          </p:cNvPr>
          <p:cNvSpPr txBox="1"/>
          <p:nvPr/>
        </p:nvSpPr>
        <p:spPr>
          <a:xfrm>
            <a:off x="1522475" y="4975545"/>
            <a:ext cx="9144000" cy="11931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b="1" u="sng" dirty="0">
                <a:latin typeface="+mj-lt"/>
                <a:ea typeface="+mj-ea"/>
                <a:cs typeface="+mj-cs"/>
              </a:rPr>
              <a:t>Customers</a:t>
            </a:r>
            <a:r>
              <a:rPr lang="en-US" sz="3700" dirty="0">
                <a:latin typeface="+mj-lt"/>
                <a:ea typeface="+mj-ea"/>
                <a:cs typeface="+mj-cs"/>
              </a:rPr>
              <a:t> don’t </a:t>
            </a:r>
            <a:r>
              <a:rPr lang="en-US" sz="3700" b="1" dirty="0">
                <a:latin typeface="+mj-lt"/>
                <a:ea typeface="+mj-ea"/>
                <a:cs typeface="+mj-cs"/>
              </a:rPr>
              <a:t>reject</a:t>
            </a:r>
            <a:r>
              <a:rPr lang="en-US" sz="3700" dirty="0">
                <a:latin typeface="+mj-lt"/>
                <a:ea typeface="+mj-ea"/>
                <a:cs typeface="+mj-cs"/>
              </a:rPr>
              <a:t> </a:t>
            </a:r>
            <a:r>
              <a:rPr lang="en-US" sz="3700" b="1" dirty="0">
                <a:latin typeface="+mj-lt"/>
                <a:ea typeface="+mj-ea"/>
                <a:cs typeface="+mj-cs"/>
              </a:rPr>
              <a:t>AI, </a:t>
            </a:r>
            <a:r>
              <a:rPr lang="en-US" sz="3700" dirty="0">
                <a:latin typeface="+mj-lt"/>
                <a:ea typeface="+mj-ea"/>
                <a:cs typeface="+mj-cs"/>
              </a:rPr>
              <a:t>they </a:t>
            </a:r>
            <a:r>
              <a:rPr lang="en-US" sz="3700" b="1" dirty="0">
                <a:latin typeface="+mj-lt"/>
                <a:ea typeface="+mj-ea"/>
                <a:cs typeface="+mj-cs"/>
              </a:rPr>
              <a:t>reject</a:t>
            </a:r>
            <a:r>
              <a:rPr lang="en-US" sz="3700" dirty="0">
                <a:latin typeface="+mj-lt"/>
                <a:ea typeface="+mj-ea"/>
                <a:cs typeface="+mj-cs"/>
              </a:rPr>
              <a:t> </a:t>
            </a:r>
            <a:r>
              <a:rPr lang="en-US" sz="3700" b="1" dirty="0">
                <a:latin typeface="+mj-lt"/>
                <a:ea typeface="+mj-ea"/>
                <a:cs typeface="+mj-cs"/>
              </a:rPr>
              <a:t>AI</a:t>
            </a:r>
            <a:r>
              <a:rPr lang="en-US" sz="3700" dirty="0">
                <a:latin typeface="+mj-lt"/>
                <a:ea typeface="+mj-ea"/>
                <a:cs typeface="+mj-cs"/>
              </a:rPr>
              <a:t> they can’t </a:t>
            </a:r>
            <a:r>
              <a:rPr lang="en-US" sz="3700" b="1" dirty="0">
                <a:latin typeface="+mj-lt"/>
                <a:ea typeface="+mj-ea"/>
                <a:cs typeface="+mj-cs"/>
              </a:rPr>
              <a:t>Trust</a:t>
            </a:r>
            <a:r>
              <a:rPr lang="en-US" sz="3700" dirty="0">
                <a:latin typeface="+mj-lt"/>
                <a:ea typeface="+mj-ea"/>
                <a:cs typeface="+mj-cs"/>
              </a:rPr>
              <a:t>.</a:t>
            </a:r>
          </a:p>
        </p:txBody>
      </p:sp>
      <p:pic>
        <p:nvPicPr>
          <p:cNvPr id="5" name="Content Placeholder 4" descr="A couple of people sitting in chairs and talking on a computer&#10;&#10;AI-generated content may be incorrect.">
            <a:extLst>
              <a:ext uri="{FF2B5EF4-FFF2-40B4-BE49-F238E27FC236}">
                <a16:creationId xmlns:a16="http://schemas.microsoft.com/office/drawing/2014/main" id="{D60DDA19-3CF2-3C85-613C-AA0CEAA881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384" r="2" b="12716"/>
          <a:stretch>
            <a:fillRect/>
          </a:stretch>
        </p:blipFill>
        <p:spPr>
          <a:xfrm>
            <a:off x="860414" y="273341"/>
            <a:ext cx="10468123" cy="4428863"/>
          </a:xfrm>
          <a:custGeom>
            <a:avLst/>
            <a:gdLst/>
            <a:ahLst/>
            <a:cxnLst/>
            <a:rect l="l" t="t" r="r" b="b"/>
            <a:pathLst>
              <a:path w="8903441" h="3766876">
                <a:moveTo>
                  <a:pt x="8890380" y="1667288"/>
                </a:moveTo>
                <a:lnTo>
                  <a:pt x="8895460" y="1677046"/>
                </a:lnTo>
                <a:cubicBezTo>
                  <a:pt x="8905866" y="1703466"/>
                  <a:pt x="8906717" y="1724063"/>
                  <a:pt x="8894323" y="1729738"/>
                </a:cubicBezTo>
                <a:lnTo>
                  <a:pt x="8891365" y="1729349"/>
                </a:lnTo>
                <a:lnTo>
                  <a:pt x="8891421" y="1712412"/>
                </a:lnTo>
                <a:cubicBezTo>
                  <a:pt x="8891337" y="1700170"/>
                  <a:pt x="8891138" y="1688653"/>
                  <a:pt x="8890856" y="1678595"/>
                </a:cubicBezTo>
                <a:close/>
                <a:moveTo>
                  <a:pt x="8888451" y="1641624"/>
                </a:moveTo>
                <a:cubicBezTo>
                  <a:pt x="8888927" y="1642911"/>
                  <a:pt x="8889388" y="1647125"/>
                  <a:pt x="8889800" y="1653531"/>
                </a:cubicBezTo>
                <a:lnTo>
                  <a:pt x="8890380" y="1667288"/>
                </a:lnTo>
                <a:lnTo>
                  <a:pt x="8884645" y="1656272"/>
                </a:lnTo>
                <a:lnTo>
                  <a:pt x="8886368" y="1643902"/>
                </a:lnTo>
                <a:cubicBezTo>
                  <a:pt x="8887058" y="1640758"/>
                  <a:pt x="8887743" y="1639762"/>
                  <a:pt x="8888451" y="1641624"/>
                </a:cubicBezTo>
                <a:close/>
                <a:moveTo>
                  <a:pt x="999724" y="1241031"/>
                </a:moveTo>
                <a:cubicBezTo>
                  <a:pt x="998379" y="1242269"/>
                  <a:pt x="996554" y="1243547"/>
                  <a:pt x="995210" y="1244785"/>
                </a:cubicBezTo>
                <a:cubicBezTo>
                  <a:pt x="1005261" y="1248940"/>
                  <a:pt x="1015746" y="1252497"/>
                  <a:pt x="1025774" y="1256374"/>
                </a:cubicBezTo>
                <a:cubicBezTo>
                  <a:pt x="1037480" y="1257305"/>
                  <a:pt x="1049668" y="1258195"/>
                  <a:pt x="1060894" y="1259168"/>
                </a:cubicBezTo>
                <a:cubicBezTo>
                  <a:pt x="1040504" y="1253123"/>
                  <a:pt x="1020115" y="1247076"/>
                  <a:pt x="999724" y="1241031"/>
                </a:cubicBezTo>
                <a:close/>
                <a:moveTo>
                  <a:pt x="1319296" y="820371"/>
                </a:moveTo>
                <a:cubicBezTo>
                  <a:pt x="1421680" y="872109"/>
                  <a:pt x="1548101" y="905226"/>
                  <a:pt x="1681342" y="933268"/>
                </a:cubicBezTo>
                <a:cubicBezTo>
                  <a:pt x="1683167" y="931988"/>
                  <a:pt x="1684512" y="930751"/>
                  <a:pt x="1686338" y="929471"/>
                </a:cubicBezTo>
                <a:cubicBezTo>
                  <a:pt x="1563998" y="893197"/>
                  <a:pt x="1441635" y="856646"/>
                  <a:pt x="1319296" y="820371"/>
                </a:cubicBezTo>
                <a:close/>
                <a:moveTo>
                  <a:pt x="7894848" y="858"/>
                </a:moveTo>
                <a:cubicBezTo>
                  <a:pt x="7906700" y="3455"/>
                  <a:pt x="7910528" y="8436"/>
                  <a:pt x="7907341" y="16271"/>
                </a:cubicBezTo>
                <a:cubicBezTo>
                  <a:pt x="7902882" y="26177"/>
                  <a:pt x="7893520" y="35394"/>
                  <a:pt x="7882642" y="43904"/>
                </a:cubicBezTo>
                <a:cubicBezTo>
                  <a:pt x="7831903" y="83897"/>
                  <a:pt x="7856047" y="94090"/>
                  <a:pt x="7927648" y="93123"/>
                </a:cubicBezTo>
                <a:cubicBezTo>
                  <a:pt x="7991511" y="92274"/>
                  <a:pt x="8055318" y="85274"/>
                  <a:pt x="8119655" y="78787"/>
                </a:cubicBezTo>
                <a:cubicBezTo>
                  <a:pt x="8151329" y="75447"/>
                  <a:pt x="8152942" y="77265"/>
                  <a:pt x="8141786" y="93635"/>
                </a:cubicBezTo>
                <a:cubicBezTo>
                  <a:pt x="8123815" y="120677"/>
                  <a:pt x="8122595" y="145410"/>
                  <a:pt x="8151055" y="166138"/>
                </a:cubicBezTo>
                <a:cubicBezTo>
                  <a:pt x="8157767" y="170866"/>
                  <a:pt x="8162605" y="176318"/>
                  <a:pt x="8160811" y="183471"/>
                </a:cubicBezTo>
                <a:cubicBezTo>
                  <a:pt x="8152723" y="212724"/>
                  <a:pt x="8169841" y="236686"/>
                  <a:pt x="8187466" y="260884"/>
                </a:cubicBezTo>
                <a:cubicBezTo>
                  <a:pt x="8217175" y="301371"/>
                  <a:pt x="8254836" y="338641"/>
                  <a:pt x="8295790" y="374783"/>
                </a:cubicBezTo>
                <a:cubicBezTo>
                  <a:pt x="8324664" y="400232"/>
                  <a:pt x="8342922" y="431650"/>
                  <a:pt x="8406170" y="440370"/>
                </a:cubicBezTo>
                <a:cubicBezTo>
                  <a:pt x="8421364" y="442394"/>
                  <a:pt x="8426373" y="449790"/>
                  <a:pt x="8420903" y="459225"/>
                </a:cubicBezTo>
                <a:cubicBezTo>
                  <a:pt x="8402820" y="490474"/>
                  <a:pt x="8417534" y="514648"/>
                  <a:pt x="8450800" y="534955"/>
                </a:cubicBezTo>
                <a:cubicBezTo>
                  <a:pt x="8462563" y="542037"/>
                  <a:pt x="8458146" y="546902"/>
                  <a:pt x="8442097" y="551669"/>
                </a:cubicBezTo>
                <a:cubicBezTo>
                  <a:pt x="8423667" y="556925"/>
                  <a:pt x="8409328" y="564619"/>
                  <a:pt x="8398067" y="574282"/>
                </a:cubicBezTo>
                <a:cubicBezTo>
                  <a:pt x="8379577" y="589897"/>
                  <a:pt x="8370872" y="606612"/>
                  <a:pt x="8363634" y="623477"/>
                </a:cubicBezTo>
                <a:cubicBezTo>
                  <a:pt x="8352394" y="649929"/>
                  <a:pt x="8339133" y="675439"/>
                  <a:pt x="8295388" y="695789"/>
                </a:cubicBezTo>
                <a:cubicBezTo>
                  <a:pt x="8282368" y="701969"/>
                  <a:pt x="8271923" y="709882"/>
                  <a:pt x="8260972" y="717559"/>
                </a:cubicBezTo>
                <a:cubicBezTo>
                  <a:pt x="8264466" y="724248"/>
                  <a:pt x="8273101" y="728807"/>
                  <a:pt x="8289132" y="729358"/>
                </a:cubicBezTo>
                <a:cubicBezTo>
                  <a:pt x="8391169" y="732995"/>
                  <a:pt x="8386647" y="769770"/>
                  <a:pt x="8387346" y="810845"/>
                </a:cubicBezTo>
                <a:cubicBezTo>
                  <a:pt x="8388418" y="861681"/>
                  <a:pt x="8330862" y="890238"/>
                  <a:pt x="8259532" y="916368"/>
                </a:cubicBezTo>
                <a:cubicBezTo>
                  <a:pt x="8235122" y="925226"/>
                  <a:pt x="8199529" y="928071"/>
                  <a:pt x="8191769" y="950020"/>
                </a:cubicBezTo>
                <a:cubicBezTo>
                  <a:pt x="8234379" y="966427"/>
                  <a:pt x="8282955" y="945934"/>
                  <a:pt x="8327664" y="947606"/>
                </a:cubicBezTo>
                <a:cubicBezTo>
                  <a:pt x="8364609" y="949119"/>
                  <a:pt x="8424473" y="941347"/>
                  <a:pt x="8378206" y="982626"/>
                </a:cubicBezTo>
                <a:cubicBezTo>
                  <a:pt x="8364736" y="994722"/>
                  <a:pt x="8382242" y="1001021"/>
                  <a:pt x="8400605" y="1000529"/>
                </a:cubicBezTo>
                <a:cubicBezTo>
                  <a:pt x="8549357" y="995586"/>
                  <a:pt x="8487684" y="1076555"/>
                  <a:pt x="8538706" y="1111533"/>
                </a:cubicBezTo>
                <a:cubicBezTo>
                  <a:pt x="8553092" y="1120905"/>
                  <a:pt x="8540810" y="1141011"/>
                  <a:pt x="8520556" y="1147547"/>
                </a:cubicBezTo>
                <a:cubicBezTo>
                  <a:pt x="8392015" y="1189611"/>
                  <a:pt x="8380569" y="1263373"/>
                  <a:pt x="8322605" y="1331423"/>
                </a:cubicBezTo>
                <a:cubicBezTo>
                  <a:pt x="8393509" y="1350105"/>
                  <a:pt x="8476647" y="1348124"/>
                  <a:pt x="8552563" y="1357692"/>
                </a:cubicBezTo>
                <a:cubicBezTo>
                  <a:pt x="8631413" y="1367560"/>
                  <a:pt x="8632510" y="1380057"/>
                  <a:pt x="8572872" y="1434543"/>
                </a:cubicBezTo>
                <a:cubicBezTo>
                  <a:pt x="8740108" y="1430496"/>
                  <a:pt x="8740108" y="1430496"/>
                  <a:pt x="8695911" y="1511890"/>
                </a:cubicBezTo>
                <a:cubicBezTo>
                  <a:pt x="8766152" y="1509223"/>
                  <a:pt x="8835070" y="1574251"/>
                  <a:pt x="8873147" y="1634187"/>
                </a:cubicBezTo>
                <a:lnTo>
                  <a:pt x="8884645" y="1656272"/>
                </a:lnTo>
                <a:lnTo>
                  <a:pt x="8884254" y="1659075"/>
                </a:lnTo>
                <a:cubicBezTo>
                  <a:pt x="8882795" y="1672543"/>
                  <a:pt x="8881198" y="1691773"/>
                  <a:pt x="8879232" y="1711097"/>
                </a:cubicBezTo>
                <a:lnTo>
                  <a:pt x="8877347" y="1727504"/>
                </a:lnTo>
                <a:lnTo>
                  <a:pt x="8865337" y="1725923"/>
                </a:lnTo>
                <a:cubicBezTo>
                  <a:pt x="8855639" y="1721668"/>
                  <a:pt x="8848716" y="1720054"/>
                  <a:pt x="8843722" y="1720152"/>
                </a:cubicBezTo>
                <a:cubicBezTo>
                  <a:pt x="8828739" y="1720444"/>
                  <a:pt x="8831115" y="1736133"/>
                  <a:pt x="8828004" y="1742073"/>
                </a:cubicBezTo>
                <a:cubicBezTo>
                  <a:pt x="8817547" y="1760900"/>
                  <a:pt x="8843589" y="1770647"/>
                  <a:pt x="8861127" y="1782820"/>
                </a:cubicBezTo>
                <a:cubicBezTo>
                  <a:pt x="8867694" y="1787281"/>
                  <a:pt x="8872382" y="1766445"/>
                  <a:pt x="8875975" y="1739445"/>
                </a:cubicBezTo>
                <a:lnTo>
                  <a:pt x="8877347" y="1727504"/>
                </a:lnTo>
                <a:lnTo>
                  <a:pt x="8891365" y="1729349"/>
                </a:lnTo>
                <a:lnTo>
                  <a:pt x="8891294" y="1750579"/>
                </a:lnTo>
                <a:cubicBezTo>
                  <a:pt x="8890576" y="1802412"/>
                  <a:pt x="8887485" y="1854103"/>
                  <a:pt x="8879895" y="1858687"/>
                </a:cubicBezTo>
                <a:cubicBezTo>
                  <a:pt x="8799411" y="1907447"/>
                  <a:pt x="8858072" y="1996322"/>
                  <a:pt x="8700018" y="2022228"/>
                </a:cubicBezTo>
                <a:cubicBezTo>
                  <a:pt x="8628887" y="2034069"/>
                  <a:pt x="8597252" y="2070985"/>
                  <a:pt x="8546517" y="2094468"/>
                </a:cubicBezTo>
                <a:cubicBezTo>
                  <a:pt x="8369592" y="2175758"/>
                  <a:pt x="8254890" y="2270617"/>
                  <a:pt x="8208310" y="2391116"/>
                </a:cubicBezTo>
                <a:cubicBezTo>
                  <a:pt x="8195251" y="2424444"/>
                  <a:pt x="8137916" y="2455501"/>
                  <a:pt x="8101924" y="2486924"/>
                </a:cubicBezTo>
                <a:cubicBezTo>
                  <a:pt x="8122498" y="2506105"/>
                  <a:pt x="8219539" y="2452814"/>
                  <a:pt x="8188722" y="2510086"/>
                </a:cubicBezTo>
                <a:cubicBezTo>
                  <a:pt x="8165388" y="2553270"/>
                  <a:pt x="8098391" y="2584616"/>
                  <a:pt x="8035596" y="2614194"/>
                </a:cubicBezTo>
                <a:cubicBezTo>
                  <a:pt x="7963481" y="2647947"/>
                  <a:pt x="7883214" y="2677100"/>
                  <a:pt x="7854509" y="2730830"/>
                </a:cubicBezTo>
                <a:cubicBezTo>
                  <a:pt x="7848249" y="2742293"/>
                  <a:pt x="6341566" y="3671513"/>
                  <a:pt x="4141410" y="3763614"/>
                </a:cubicBezTo>
                <a:cubicBezTo>
                  <a:pt x="3781875" y="3778662"/>
                  <a:pt x="2353277" y="3737838"/>
                  <a:pt x="2161737" y="3718831"/>
                </a:cubicBezTo>
                <a:cubicBezTo>
                  <a:pt x="1964811" y="3699179"/>
                  <a:pt x="1793107" y="3646810"/>
                  <a:pt x="1591600" y="3635674"/>
                </a:cubicBezTo>
                <a:cubicBezTo>
                  <a:pt x="1485018" y="3629919"/>
                  <a:pt x="1381185" y="3611329"/>
                  <a:pt x="1390654" y="3531585"/>
                </a:cubicBezTo>
                <a:cubicBezTo>
                  <a:pt x="1393510" y="3508948"/>
                  <a:pt x="1364047" y="3493344"/>
                  <a:pt x="1320867" y="3503571"/>
                </a:cubicBezTo>
                <a:cubicBezTo>
                  <a:pt x="1239265" y="3523046"/>
                  <a:pt x="1198946" y="3494124"/>
                  <a:pt x="1150681" y="3474015"/>
                </a:cubicBezTo>
                <a:cubicBezTo>
                  <a:pt x="1065213" y="3438422"/>
                  <a:pt x="982868" y="3399757"/>
                  <a:pt x="851974" y="3403971"/>
                </a:cubicBezTo>
                <a:cubicBezTo>
                  <a:pt x="873994" y="3367898"/>
                  <a:pt x="917237" y="3369420"/>
                  <a:pt x="956780" y="3372944"/>
                </a:cubicBezTo>
                <a:cubicBezTo>
                  <a:pt x="1061276" y="3382521"/>
                  <a:pt x="1164043" y="3394488"/>
                  <a:pt x="1268515" y="3403788"/>
                </a:cubicBezTo>
                <a:cubicBezTo>
                  <a:pt x="1336376" y="3409863"/>
                  <a:pt x="1404651" y="3420660"/>
                  <a:pt x="1492884" y="3399484"/>
                </a:cubicBezTo>
                <a:cubicBezTo>
                  <a:pt x="1410006" y="3338199"/>
                  <a:pt x="1277736" y="3337777"/>
                  <a:pt x="1169657" y="3325996"/>
                </a:cubicBezTo>
                <a:cubicBezTo>
                  <a:pt x="1034677" y="3311259"/>
                  <a:pt x="951965" y="3268429"/>
                  <a:pt x="853866" y="3221353"/>
                </a:cubicBezTo>
                <a:cubicBezTo>
                  <a:pt x="950752" y="3199416"/>
                  <a:pt x="1014418" y="3234964"/>
                  <a:pt x="1090648" y="3226034"/>
                </a:cubicBezTo>
                <a:cubicBezTo>
                  <a:pt x="1094340" y="3218434"/>
                  <a:pt x="1100169" y="3207568"/>
                  <a:pt x="1099183" y="3207375"/>
                </a:cubicBezTo>
                <a:cubicBezTo>
                  <a:pt x="971072" y="3188118"/>
                  <a:pt x="907890" y="3136018"/>
                  <a:pt x="882137" y="3068880"/>
                </a:cubicBezTo>
                <a:cubicBezTo>
                  <a:pt x="868924" y="3034221"/>
                  <a:pt x="822286" y="3027121"/>
                  <a:pt x="776145" y="3014660"/>
                </a:cubicBezTo>
                <a:cubicBezTo>
                  <a:pt x="613874" y="2970419"/>
                  <a:pt x="443486" y="2933046"/>
                  <a:pt x="307191" y="2864697"/>
                </a:cubicBezTo>
                <a:cubicBezTo>
                  <a:pt x="457123" y="2862170"/>
                  <a:pt x="581367" y="2903594"/>
                  <a:pt x="743379" y="2911759"/>
                </a:cubicBezTo>
                <a:cubicBezTo>
                  <a:pt x="608349" y="2835743"/>
                  <a:pt x="439124" y="2806104"/>
                  <a:pt x="284020" y="2766269"/>
                </a:cubicBezTo>
                <a:cubicBezTo>
                  <a:pt x="213164" y="2748143"/>
                  <a:pt x="147010" y="2722889"/>
                  <a:pt x="63190" y="2717094"/>
                </a:cubicBezTo>
                <a:cubicBezTo>
                  <a:pt x="33455" y="2714947"/>
                  <a:pt x="-16425" y="2709531"/>
                  <a:pt x="5340" y="2681595"/>
                </a:cubicBezTo>
                <a:cubicBezTo>
                  <a:pt x="23652" y="2658441"/>
                  <a:pt x="63627" y="2661368"/>
                  <a:pt x="100237" y="2664591"/>
                </a:cubicBezTo>
                <a:cubicBezTo>
                  <a:pt x="188123" y="2672547"/>
                  <a:pt x="277551" y="2664977"/>
                  <a:pt x="394328" y="2654447"/>
                </a:cubicBezTo>
                <a:cubicBezTo>
                  <a:pt x="290057" y="2592242"/>
                  <a:pt x="112140" y="2629127"/>
                  <a:pt x="21491" y="2562088"/>
                </a:cubicBezTo>
                <a:cubicBezTo>
                  <a:pt x="125636" y="2540073"/>
                  <a:pt x="208727" y="2559644"/>
                  <a:pt x="294268" y="2557453"/>
                </a:cubicBezTo>
                <a:cubicBezTo>
                  <a:pt x="371589" y="2555423"/>
                  <a:pt x="389695" y="2540961"/>
                  <a:pt x="367847" y="2501743"/>
                </a:cubicBezTo>
                <a:cubicBezTo>
                  <a:pt x="333905" y="2440640"/>
                  <a:pt x="373328" y="2404160"/>
                  <a:pt x="486858" y="2411824"/>
                </a:cubicBezTo>
                <a:cubicBezTo>
                  <a:pt x="592120" y="2419095"/>
                  <a:pt x="600599" y="2394285"/>
                  <a:pt x="570008" y="2360312"/>
                </a:cubicBezTo>
                <a:cubicBezTo>
                  <a:pt x="525457" y="2310774"/>
                  <a:pt x="567057" y="2265987"/>
                  <a:pt x="594400" y="2218813"/>
                </a:cubicBezTo>
                <a:cubicBezTo>
                  <a:pt x="635581" y="2147198"/>
                  <a:pt x="612469" y="2115647"/>
                  <a:pt x="505675" y="2074370"/>
                </a:cubicBezTo>
                <a:cubicBezTo>
                  <a:pt x="445534" y="2051386"/>
                  <a:pt x="381431" y="2032947"/>
                  <a:pt x="295650" y="2015851"/>
                </a:cubicBezTo>
                <a:cubicBezTo>
                  <a:pt x="487251" y="1985881"/>
                  <a:pt x="281423" y="1958614"/>
                  <a:pt x="346760" y="1924896"/>
                </a:cubicBezTo>
                <a:cubicBezTo>
                  <a:pt x="481788" y="1901571"/>
                  <a:pt x="600623" y="1980687"/>
                  <a:pt x="783461" y="1939173"/>
                </a:cubicBezTo>
                <a:cubicBezTo>
                  <a:pt x="547912" y="1882335"/>
                  <a:pt x="287006" y="1807013"/>
                  <a:pt x="112183" y="1719100"/>
                </a:cubicBezTo>
                <a:cubicBezTo>
                  <a:pt x="148588" y="1692398"/>
                  <a:pt x="188462" y="1710725"/>
                  <a:pt x="219936" y="1699568"/>
                </a:cubicBezTo>
                <a:cubicBezTo>
                  <a:pt x="218006" y="1694140"/>
                  <a:pt x="220184" y="1685834"/>
                  <a:pt x="214196" y="1683841"/>
                </a:cubicBezTo>
                <a:cubicBezTo>
                  <a:pt x="85284" y="1638910"/>
                  <a:pt x="83720" y="1637648"/>
                  <a:pt x="212296" y="1584947"/>
                </a:cubicBezTo>
                <a:cubicBezTo>
                  <a:pt x="257172" y="1566456"/>
                  <a:pt x="252206" y="1554019"/>
                  <a:pt x="226108" y="1538121"/>
                </a:cubicBezTo>
                <a:cubicBezTo>
                  <a:pt x="207682" y="1526866"/>
                  <a:pt x="185078" y="1517656"/>
                  <a:pt x="192710" y="1488723"/>
                </a:cubicBezTo>
                <a:cubicBezTo>
                  <a:pt x="268435" y="1518175"/>
                  <a:pt x="624154" y="1547955"/>
                  <a:pt x="685843" y="1538903"/>
                </a:cubicBezTo>
                <a:cubicBezTo>
                  <a:pt x="755173" y="1528619"/>
                  <a:pt x="994201" y="1520231"/>
                  <a:pt x="1067153" y="1523622"/>
                </a:cubicBezTo>
                <a:cubicBezTo>
                  <a:pt x="1063138" y="1522015"/>
                  <a:pt x="1059122" y="1520410"/>
                  <a:pt x="1055106" y="1518803"/>
                </a:cubicBezTo>
                <a:cubicBezTo>
                  <a:pt x="983007" y="1486514"/>
                  <a:pt x="909946" y="1454310"/>
                  <a:pt x="864245" y="1408231"/>
                </a:cubicBezTo>
                <a:cubicBezTo>
                  <a:pt x="862153" y="1406456"/>
                  <a:pt x="861045" y="1404874"/>
                  <a:pt x="856768" y="1405809"/>
                </a:cubicBezTo>
                <a:cubicBezTo>
                  <a:pt x="819307" y="1414974"/>
                  <a:pt x="822846" y="1400112"/>
                  <a:pt x="821342" y="1388491"/>
                </a:cubicBezTo>
                <a:cubicBezTo>
                  <a:pt x="819813" y="1376592"/>
                  <a:pt x="812736" y="1367699"/>
                  <a:pt x="784954" y="1371257"/>
                </a:cubicBezTo>
                <a:cubicBezTo>
                  <a:pt x="783512" y="1371384"/>
                  <a:pt x="781566" y="1371274"/>
                  <a:pt x="779619" y="1371165"/>
                </a:cubicBezTo>
                <a:cubicBezTo>
                  <a:pt x="766469" y="1370361"/>
                  <a:pt x="722835" y="1342290"/>
                  <a:pt x="728571" y="1335910"/>
                </a:cubicBezTo>
                <a:cubicBezTo>
                  <a:pt x="741389" y="1321912"/>
                  <a:pt x="726409" y="1316791"/>
                  <a:pt x="713734" y="1310348"/>
                </a:cubicBezTo>
                <a:cubicBezTo>
                  <a:pt x="696009" y="1301550"/>
                  <a:pt x="678333" y="1293308"/>
                  <a:pt x="659695" y="1285149"/>
                </a:cubicBezTo>
                <a:cubicBezTo>
                  <a:pt x="641562" y="1277227"/>
                  <a:pt x="622997" y="1269901"/>
                  <a:pt x="604409" y="1262299"/>
                </a:cubicBezTo>
                <a:cubicBezTo>
                  <a:pt x="561305" y="1256847"/>
                  <a:pt x="517819" y="1252549"/>
                  <a:pt x="472556" y="1250086"/>
                </a:cubicBezTo>
                <a:cubicBezTo>
                  <a:pt x="438951" y="1247999"/>
                  <a:pt x="401379" y="1244860"/>
                  <a:pt x="382690" y="1214040"/>
                </a:cubicBezTo>
                <a:cubicBezTo>
                  <a:pt x="418096" y="1214570"/>
                  <a:pt x="453575" y="1215933"/>
                  <a:pt x="489053" y="1217296"/>
                </a:cubicBezTo>
                <a:cubicBezTo>
                  <a:pt x="454954" y="1204059"/>
                  <a:pt x="421816" y="1190737"/>
                  <a:pt x="390047" y="1176456"/>
                </a:cubicBezTo>
                <a:cubicBezTo>
                  <a:pt x="363810" y="1164487"/>
                  <a:pt x="342232" y="1150431"/>
                  <a:pt x="333292" y="1131347"/>
                </a:cubicBezTo>
                <a:cubicBezTo>
                  <a:pt x="330930" y="1126518"/>
                  <a:pt x="329025" y="1121368"/>
                  <a:pt x="337841" y="1116956"/>
                </a:cubicBezTo>
                <a:cubicBezTo>
                  <a:pt x="347569" y="1111905"/>
                  <a:pt x="355552" y="1114562"/>
                  <a:pt x="363031" y="1116984"/>
                </a:cubicBezTo>
                <a:cubicBezTo>
                  <a:pt x="393929" y="1126864"/>
                  <a:pt x="425283" y="1136425"/>
                  <a:pt x="455724" y="1146625"/>
                </a:cubicBezTo>
                <a:cubicBezTo>
                  <a:pt x="496146" y="1160147"/>
                  <a:pt x="536111" y="1173989"/>
                  <a:pt x="576050" y="1187553"/>
                </a:cubicBezTo>
                <a:cubicBezTo>
                  <a:pt x="519650" y="1157524"/>
                  <a:pt x="457798" y="1131612"/>
                  <a:pt x="391358" y="1108621"/>
                </a:cubicBezTo>
                <a:cubicBezTo>
                  <a:pt x="343386" y="1091844"/>
                  <a:pt x="295414" y="1075067"/>
                  <a:pt x="258466" y="1051446"/>
                </a:cubicBezTo>
                <a:cubicBezTo>
                  <a:pt x="239512" y="1039678"/>
                  <a:pt x="230024" y="1025400"/>
                  <a:pt x="227119" y="1008864"/>
                </a:cubicBezTo>
                <a:cubicBezTo>
                  <a:pt x="226729" y="1004421"/>
                  <a:pt x="227253" y="999338"/>
                  <a:pt x="237176" y="996508"/>
                </a:cubicBezTo>
                <a:cubicBezTo>
                  <a:pt x="247123" y="993956"/>
                  <a:pt x="253208" y="997060"/>
                  <a:pt x="257395" y="1000610"/>
                </a:cubicBezTo>
                <a:cubicBezTo>
                  <a:pt x="262111" y="1004674"/>
                  <a:pt x="267716" y="1007820"/>
                  <a:pt x="275649" y="1009921"/>
                </a:cubicBezTo>
                <a:cubicBezTo>
                  <a:pt x="345186" y="1029563"/>
                  <a:pt x="406508" y="1054962"/>
                  <a:pt x="469199" y="1079402"/>
                </a:cubicBezTo>
                <a:cubicBezTo>
                  <a:pt x="558968" y="1114336"/>
                  <a:pt x="647368" y="1150231"/>
                  <a:pt x="753033" y="1173138"/>
                </a:cubicBezTo>
                <a:cubicBezTo>
                  <a:pt x="793015" y="1181661"/>
                  <a:pt x="834292" y="1188391"/>
                  <a:pt x="865682" y="1187316"/>
                </a:cubicBezTo>
                <a:cubicBezTo>
                  <a:pt x="750261" y="1147076"/>
                  <a:pt x="641375" y="1104025"/>
                  <a:pt x="543487" y="1053852"/>
                </a:cubicBezTo>
                <a:cubicBezTo>
                  <a:pt x="444589" y="1003208"/>
                  <a:pt x="357848" y="947579"/>
                  <a:pt x="295297" y="880592"/>
                </a:cubicBezTo>
                <a:cubicBezTo>
                  <a:pt x="288871" y="873601"/>
                  <a:pt x="284873" y="866676"/>
                  <a:pt x="264758" y="869281"/>
                </a:cubicBezTo>
                <a:cubicBezTo>
                  <a:pt x="255650" y="870360"/>
                  <a:pt x="252375" y="866170"/>
                  <a:pt x="254388" y="861516"/>
                </a:cubicBezTo>
                <a:cubicBezTo>
                  <a:pt x="266992" y="828509"/>
                  <a:pt x="236853" y="810726"/>
                  <a:pt x="190786" y="799099"/>
                </a:cubicBezTo>
                <a:cubicBezTo>
                  <a:pt x="176408" y="795324"/>
                  <a:pt x="175031" y="790688"/>
                  <a:pt x="184973" y="782539"/>
                </a:cubicBezTo>
                <a:cubicBezTo>
                  <a:pt x="198516" y="771277"/>
                  <a:pt x="196123" y="760574"/>
                  <a:pt x="187530" y="750974"/>
                </a:cubicBezTo>
                <a:cubicBezTo>
                  <a:pt x="182644" y="744967"/>
                  <a:pt x="176339" y="739364"/>
                  <a:pt x="170996" y="733676"/>
                </a:cubicBezTo>
                <a:cubicBezTo>
                  <a:pt x="167290" y="730083"/>
                  <a:pt x="161157" y="726424"/>
                  <a:pt x="169444" y="721499"/>
                </a:cubicBezTo>
                <a:cubicBezTo>
                  <a:pt x="177298" y="717172"/>
                  <a:pt x="185665" y="718676"/>
                  <a:pt x="193501" y="719668"/>
                </a:cubicBezTo>
                <a:cubicBezTo>
                  <a:pt x="231170" y="723917"/>
                  <a:pt x="254043" y="736181"/>
                  <a:pt x="265436" y="755609"/>
                </a:cubicBezTo>
                <a:cubicBezTo>
                  <a:pt x="273963" y="769971"/>
                  <a:pt x="281726" y="770130"/>
                  <a:pt x="302333" y="756567"/>
                </a:cubicBezTo>
                <a:cubicBezTo>
                  <a:pt x="317894" y="746247"/>
                  <a:pt x="332387" y="745814"/>
                  <a:pt x="346481" y="751853"/>
                </a:cubicBezTo>
                <a:cubicBezTo>
                  <a:pt x="354007" y="754830"/>
                  <a:pt x="358771" y="759448"/>
                  <a:pt x="364449" y="763428"/>
                </a:cubicBezTo>
                <a:cubicBezTo>
                  <a:pt x="392910" y="784156"/>
                  <a:pt x="422762" y="804202"/>
                  <a:pt x="467363" y="815678"/>
                </a:cubicBezTo>
                <a:cubicBezTo>
                  <a:pt x="487199" y="820933"/>
                  <a:pt x="508355" y="824672"/>
                  <a:pt x="537693" y="816781"/>
                </a:cubicBezTo>
                <a:cubicBezTo>
                  <a:pt x="518386" y="812039"/>
                  <a:pt x="499567" y="812852"/>
                  <a:pt x="482019" y="811593"/>
                </a:cubicBezTo>
                <a:cubicBezTo>
                  <a:pt x="464472" y="810335"/>
                  <a:pt x="454949" y="806693"/>
                  <a:pt x="467050" y="795557"/>
                </a:cubicBezTo>
                <a:cubicBezTo>
                  <a:pt x="473772" y="789371"/>
                  <a:pt x="472878" y="784693"/>
                  <a:pt x="465734" y="780562"/>
                </a:cubicBezTo>
                <a:cubicBezTo>
                  <a:pt x="442763" y="767188"/>
                  <a:pt x="430336" y="747011"/>
                  <a:pt x="384526" y="749353"/>
                </a:cubicBezTo>
                <a:cubicBezTo>
                  <a:pt x="382123" y="749564"/>
                  <a:pt x="379622" y="748664"/>
                  <a:pt x="377146" y="748041"/>
                </a:cubicBezTo>
                <a:cubicBezTo>
                  <a:pt x="367744" y="745789"/>
                  <a:pt x="357358" y="743342"/>
                  <a:pt x="360089" y="735827"/>
                </a:cubicBezTo>
                <a:cubicBezTo>
                  <a:pt x="363301" y="728269"/>
                  <a:pt x="375652" y="725506"/>
                  <a:pt x="386634" y="723703"/>
                </a:cubicBezTo>
                <a:cubicBezTo>
                  <a:pt x="414823" y="719269"/>
                  <a:pt x="437543" y="724271"/>
                  <a:pt x="459375" y="730191"/>
                </a:cubicBezTo>
                <a:cubicBezTo>
                  <a:pt x="512487" y="744837"/>
                  <a:pt x="556932" y="765561"/>
                  <a:pt x="603200" y="785006"/>
                </a:cubicBezTo>
                <a:cubicBezTo>
                  <a:pt x="672604" y="814173"/>
                  <a:pt x="734250" y="848778"/>
                  <a:pt x="810521" y="873425"/>
                </a:cubicBezTo>
                <a:cubicBezTo>
                  <a:pt x="1037317" y="946423"/>
                  <a:pt x="1260943" y="1021938"/>
                  <a:pt x="1494102" y="1090180"/>
                </a:cubicBezTo>
                <a:cubicBezTo>
                  <a:pt x="1580109" y="1115371"/>
                  <a:pt x="1667892" y="1138728"/>
                  <a:pt x="1756565" y="1161167"/>
                </a:cubicBezTo>
                <a:cubicBezTo>
                  <a:pt x="1756899" y="1159458"/>
                  <a:pt x="1757282" y="1158305"/>
                  <a:pt x="1757592" y="1156319"/>
                </a:cubicBezTo>
                <a:cubicBezTo>
                  <a:pt x="1757470" y="1154931"/>
                  <a:pt x="1757324" y="1153264"/>
                  <a:pt x="1757202" y="1151876"/>
                </a:cubicBezTo>
                <a:cubicBezTo>
                  <a:pt x="1694452" y="1137796"/>
                  <a:pt x="1632540" y="1122242"/>
                  <a:pt x="1572453" y="1105409"/>
                </a:cubicBezTo>
                <a:cubicBezTo>
                  <a:pt x="1424942" y="1063789"/>
                  <a:pt x="1288864" y="1014450"/>
                  <a:pt x="1171972" y="951953"/>
                </a:cubicBezTo>
                <a:cubicBezTo>
                  <a:pt x="1162328" y="946924"/>
                  <a:pt x="1152112" y="946421"/>
                  <a:pt x="1137334" y="949118"/>
                </a:cubicBezTo>
                <a:cubicBezTo>
                  <a:pt x="1089682" y="958058"/>
                  <a:pt x="1074050" y="951035"/>
                  <a:pt x="1081493" y="925476"/>
                </a:cubicBezTo>
                <a:cubicBezTo>
                  <a:pt x="1083360" y="919155"/>
                  <a:pt x="1083403" y="914115"/>
                  <a:pt x="1074768" y="909555"/>
                </a:cubicBezTo>
                <a:cubicBezTo>
                  <a:pt x="1036165" y="889158"/>
                  <a:pt x="995714" y="869763"/>
                  <a:pt x="952019" y="852050"/>
                </a:cubicBezTo>
                <a:cubicBezTo>
                  <a:pt x="871170" y="819410"/>
                  <a:pt x="784821" y="790332"/>
                  <a:pt x="709017" y="754450"/>
                </a:cubicBezTo>
                <a:cubicBezTo>
                  <a:pt x="686747" y="743533"/>
                  <a:pt x="669617" y="730485"/>
                  <a:pt x="659046" y="714902"/>
                </a:cubicBezTo>
                <a:cubicBezTo>
                  <a:pt x="655674" y="709602"/>
                  <a:pt x="653624" y="702786"/>
                  <a:pt x="664793" y="697608"/>
                </a:cubicBezTo>
                <a:cubicBezTo>
                  <a:pt x="675483" y="692472"/>
                  <a:pt x="684069" y="696476"/>
                  <a:pt x="692052" y="699133"/>
                </a:cubicBezTo>
                <a:cubicBezTo>
                  <a:pt x="725451" y="709913"/>
                  <a:pt x="759355" y="720929"/>
                  <a:pt x="792779" y="731987"/>
                </a:cubicBezTo>
                <a:cubicBezTo>
                  <a:pt x="826682" y="743003"/>
                  <a:pt x="860155" y="754616"/>
                  <a:pt x="895574" y="766338"/>
                </a:cubicBezTo>
                <a:cubicBezTo>
                  <a:pt x="897416" y="759741"/>
                  <a:pt x="890085" y="758985"/>
                  <a:pt x="886044" y="757101"/>
                </a:cubicBezTo>
                <a:cubicBezTo>
                  <a:pt x="828975" y="730489"/>
                  <a:pt x="766861" y="707118"/>
                  <a:pt x="702924" y="685027"/>
                </a:cubicBezTo>
                <a:cubicBezTo>
                  <a:pt x="653460" y="667821"/>
                  <a:pt x="605342" y="649378"/>
                  <a:pt x="571540" y="622962"/>
                </a:cubicBezTo>
                <a:cubicBezTo>
                  <a:pt x="558524" y="612632"/>
                  <a:pt x="551227" y="601239"/>
                  <a:pt x="552940" y="587657"/>
                </a:cubicBezTo>
                <a:cubicBezTo>
                  <a:pt x="553537" y="583407"/>
                  <a:pt x="554132" y="579157"/>
                  <a:pt x="563623" y="576925"/>
                </a:cubicBezTo>
                <a:cubicBezTo>
                  <a:pt x="571217" y="575139"/>
                  <a:pt x="576243" y="577216"/>
                  <a:pt x="580332" y="579656"/>
                </a:cubicBezTo>
                <a:cubicBezTo>
                  <a:pt x="587500" y="584063"/>
                  <a:pt x="594668" y="588471"/>
                  <a:pt x="604623" y="591516"/>
                </a:cubicBezTo>
                <a:cubicBezTo>
                  <a:pt x="664350" y="609779"/>
                  <a:pt x="720426" y="630601"/>
                  <a:pt x="775136" y="652383"/>
                </a:cubicBezTo>
                <a:cubicBezTo>
                  <a:pt x="864952" y="687874"/>
                  <a:pt x="953882" y="724283"/>
                  <a:pt x="1057795" y="749301"/>
                </a:cubicBezTo>
                <a:cubicBezTo>
                  <a:pt x="1096889" y="758742"/>
                  <a:pt x="1137304" y="766668"/>
                  <a:pt x="1183454" y="768213"/>
                </a:cubicBezTo>
                <a:cubicBezTo>
                  <a:pt x="1181768" y="765563"/>
                  <a:pt x="1178737" y="764150"/>
                  <a:pt x="1175732" y="763015"/>
                </a:cubicBezTo>
                <a:cubicBezTo>
                  <a:pt x="1075170" y="726508"/>
                  <a:pt x="977850" y="688319"/>
                  <a:pt x="888743" y="644370"/>
                </a:cubicBezTo>
                <a:cubicBezTo>
                  <a:pt x="778881" y="590211"/>
                  <a:pt x="683912" y="529148"/>
                  <a:pt x="615490" y="455960"/>
                </a:cubicBezTo>
                <a:cubicBezTo>
                  <a:pt x="612312" y="452882"/>
                  <a:pt x="610122" y="449996"/>
                  <a:pt x="602432" y="450671"/>
                </a:cubicBezTo>
                <a:cubicBezTo>
                  <a:pt x="582748" y="452678"/>
                  <a:pt x="580338" y="447293"/>
                  <a:pt x="582418" y="437876"/>
                </a:cubicBezTo>
                <a:cubicBezTo>
                  <a:pt x="588134" y="414707"/>
                  <a:pt x="573498" y="396964"/>
                  <a:pt x="539211" y="387101"/>
                </a:cubicBezTo>
                <a:cubicBezTo>
                  <a:pt x="514350" y="379769"/>
                  <a:pt x="493430" y="373210"/>
                  <a:pt x="519748" y="352990"/>
                </a:cubicBezTo>
                <a:cubicBezTo>
                  <a:pt x="526113" y="348234"/>
                  <a:pt x="523173" y="342336"/>
                  <a:pt x="520282" y="336993"/>
                </a:cubicBezTo>
                <a:cubicBezTo>
                  <a:pt x="516186" y="328957"/>
                  <a:pt x="507910" y="322968"/>
                  <a:pt x="498650" y="316785"/>
                </a:cubicBezTo>
                <a:cubicBezTo>
                  <a:pt x="493501" y="313319"/>
                  <a:pt x="487271" y="308549"/>
                  <a:pt x="493610" y="303515"/>
                </a:cubicBezTo>
                <a:cubicBezTo>
                  <a:pt x="500838" y="297564"/>
                  <a:pt x="511247" y="300288"/>
                  <a:pt x="519565" y="301237"/>
                </a:cubicBezTo>
                <a:cubicBezTo>
                  <a:pt x="557715" y="305444"/>
                  <a:pt x="581118" y="318221"/>
                  <a:pt x="592560" y="338204"/>
                </a:cubicBezTo>
                <a:cubicBezTo>
                  <a:pt x="599979" y="350985"/>
                  <a:pt x="609184" y="351016"/>
                  <a:pt x="627076" y="339652"/>
                </a:cubicBezTo>
                <a:cubicBezTo>
                  <a:pt x="647275" y="326965"/>
                  <a:pt x="664147" y="326044"/>
                  <a:pt x="679640" y="336997"/>
                </a:cubicBezTo>
                <a:cubicBezTo>
                  <a:pt x="692054" y="345981"/>
                  <a:pt x="702112" y="355732"/>
                  <a:pt x="716352" y="363437"/>
                </a:cubicBezTo>
                <a:cubicBezTo>
                  <a:pt x="754546" y="384710"/>
                  <a:pt x="790508" y="408138"/>
                  <a:pt x="869745" y="400343"/>
                </a:cubicBezTo>
                <a:cubicBezTo>
                  <a:pt x="847718" y="392203"/>
                  <a:pt x="825656" y="394699"/>
                  <a:pt x="806641" y="393290"/>
                </a:cubicBezTo>
                <a:cubicBezTo>
                  <a:pt x="792988" y="392249"/>
                  <a:pt x="779165" y="389265"/>
                  <a:pt x="791435" y="380072"/>
                </a:cubicBezTo>
                <a:cubicBezTo>
                  <a:pt x="805532" y="369601"/>
                  <a:pt x="796441" y="365362"/>
                  <a:pt x="787709" y="359692"/>
                </a:cubicBezTo>
                <a:cubicBezTo>
                  <a:pt x="767647" y="346342"/>
                  <a:pt x="751260" y="330710"/>
                  <a:pt x="711071" y="330880"/>
                </a:cubicBezTo>
                <a:cubicBezTo>
                  <a:pt x="704773" y="330873"/>
                  <a:pt x="699699" y="328240"/>
                  <a:pt x="694722" y="326718"/>
                </a:cubicBezTo>
                <a:cubicBezTo>
                  <a:pt x="687749" y="324532"/>
                  <a:pt x="681713" y="321984"/>
                  <a:pt x="684613" y="316412"/>
                </a:cubicBezTo>
                <a:cubicBezTo>
                  <a:pt x="687565" y="311396"/>
                  <a:pt x="694531" y="307986"/>
                  <a:pt x="703615" y="306629"/>
                </a:cubicBezTo>
                <a:cubicBezTo>
                  <a:pt x="711738" y="305356"/>
                  <a:pt x="720365" y="304319"/>
                  <a:pt x="728585" y="304157"/>
                </a:cubicBezTo>
                <a:cubicBezTo>
                  <a:pt x="765287" y="302895"/>
                  <a:pt x="791378" y="313197"/>
                  <a:pt x="817397" y="322666"/>
                </a:cubicBezTo>
                <a:cubicBezTo>
                  <a:pt x="908436" y="355531"/>
                  <a:pt x="989341" y="394323"/>
                  <a:pt x="1073943" y="431110"/>
                </a:cubicBezTo>
                <a:cubicBezTo>
                  <a:pt x="1158521" y="467620"/>
                  <a:pt x="1256741" y="493978"/>
                  <a:pt x="1349484" y="524175"/>
                </a:cubicBezTo>
                <a:cubicBezTo>
                  <a:pt x="1563417" y="594105"/>
                  <a:pt x="1778287" y="663672"/>
                  <a:pt x="2004921" y="723811"/>
                </a:cubicBezTo>
                <a:cubicBezTo>
                  <a:pt x="2226580" y="782429"/>
                  <a:pt x="2967159" y="809769"/>
                  <a:pt x="3111348" y="808027"/>
                </a:cubicBezTo>
                <a:cubicBezTo>
                  <a:pt x="3295676" y="805559"/>
                  <a:pt x="3730204" y="773014"/>
                  <a:pt x="4173417" y="745585"/>
                </a:cubicBezTo>
                <a:cubicBezTo>
                  <a:pt x="4223504" y="742307"/>
                  <a:pt x="4272653" y="739393"/>
                  <a:pt x="4324760" y="737057"/>
                </a:cubicBezTo>
                <a:cubicBezTo>
                  <a:pt x="5801059" y="670156"/>
                  <a:pt x="6841344" y="326433"/>
                  <a:pt x="6893789" y="305879"/>
                </a:cubicBezTo>
                <a:cubicBezTo>
                  <a:pt x="6978091" y="273014"/>
                  <a:pt x="7258655" y="208091"/>
                  <a:pt x="7259184" y="208604"/>
                </a:cubicBezTo>
                <a:cubicBezTo>
                  <a:pt x="7265440" y="213652"/>
                  <a:pt x="7297274" y="217644"/>
                  <a:pt x="7323059" y="220312"/>
                </a:cubicBezTo>
                <a:lnTo>
                  <a:pt x="7347572" y="222730"/>
                </a:lnTo>
                <a:lnTo>
                  <a:pt x="7350636" y="224083"/>
                </a:lnTo>
                <a:cubicBezTo>
                  <a:pt x="7359607" y="224205"/>
                  <a:pt x="7359159" y="223929"/>
                  <a:pt x="7353245" y="223290"/>
                </a:cubicBezTo>
                <a:lnTo>
                  <a:pt x="7347572" y="222730"/>
                </a:lnTo>
                <a:lnTo>
                  <a:pt x="7342573" y="220523"/>
                </a:lnTo>
                <a:cubicBezTo>
                  <a:pt x="7341302" y="218466"/>
                  <a:pt x="7341191" y="215818"/>
                  <a:pt x="7341465" y="213415"/>
                </a:cubicBezTo>
                <a:cubicBezTo>
                  <a:pt x="7342771" y="200707"/>
                  <a:pt x="7352468" y="189782"/>
                  <a:pt x="7375606" y="182994"/>
                </a:cubicBezTo>
                <a:cubicBezTo>
                  <a:pt x="7397808" y="176568"/>
                  <a:pt x="7420538" y="170655"/>
                  <a:pt x="7443270" y="164742"/>
                </a:cubicBezTo>
                <a:cubicBezTo>
                  <a:pt x="7462204" y="159722"/>
                  <a:pt x="7475181" y="158583"/>
                  <a:pt x="7478299" y="172021"/>
                </a:cubicBezTo>
                <a:cubicBezTo>
                  <a:pt x="7481416" y="185460"/>
                  <a:pt x="7508389" y="189249"/>
                  <a:pt x="7524024" y="179761"/>
                </a:cubicBezTo>
                <a:cubicBezTo>
                  <a:pt x="7585174" y="142492"/>
                  <a:pt x="7658615" y="112820"/>
                  <a:pt x="7727944" y="80430"/>
                </a:cubicBezTo>
                <a:cubicBezTo>
                  <a:pt x="7776349" y="57992"/>
                  <a:pt x="7827303" y="37009"/>
                  <a:pt x="7867024" y="9456"/>
                </a:cubicBezTo>
                <a:cubicBezTo>
                  <a:pt x="7874326" y="4338"/>
                  <a:pt x="7880999" y="-2404"/>
                  <a:pt x="7894848" y="858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960136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EBFBB-4794-FC0D-A3AE-993F3E4E8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orange and purple circle&#10;&#10;AI-generated content may be incorrect.">
            <a:extLst>
              <a:ext uri="{FF2B5EF4-FFF2-40B4-BE49-F238E27FC236}">
                <a16:creationId xmlns:a16="http://schemas.microsoft.com/office/drawing/2014/main" id="{BA9BF522-DA3B-1D41-E9AD-B3A8040DD9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4" y="1098752"/>
            <a:ext cx="4317541" cy="4351338"/>
          </a:xfr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1B4333C-2EDC-A40A-B16D-E67D37691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710" y="1956516"/>
            <a:ext cx="2861393" cy="226433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Business Context &amp; Big Idea</a:t>
            </a:r>
          </a:p>
        </p:txBody>
      </p:sp>
      <p:pic>
        <p:nvPicPr>
          <p:cNvPr id="7" name="Picture 6" descr="Blue lines in a black background&#10;&#10;AI-generated content may be incorrect.">
            <a:extLst>
              <a:ext uri="{FF2B5EF4-FFF2-40B4-BE49-F238E27FC236}">
                <a16:creationId xmlns:a16="http://schemas.microsoft.com/office/drawing/2014/main" id="{D7514AF4-0E57-0BE0-75F9-49F1D5D124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53958">
            <a:off x="10340208" y="72612"/>
            <a:ext cx="2056074" cy="1266874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BC7F2F6C-53C9-DFF4-C37C-AC9E193E11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8657" y="615413"/>
            <a:ext cx="7104581" cy="329125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2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OmniAssist</a:t>
            </a:r>
            <a:r>
              <a:rPr lang="en-US" alt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develops AI customer service tools for banking, retail, travel, telecom.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lang="en-US" alt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results are for the VP of Product and Director of Client Success.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endParaRPr lang="en-US" alt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Big Idea</a:t>
            </a:r>
            <a:endParaRPr lang="en-US" alt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acceptance of AI is driven mainly by trust and positive experience, not tech-savviness—so OmniAssist must design AI that feels reliable, smooth, and supportive from the first interaction.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2375859-C6DD-3357-A15D-088CFC828178}"/>
              </a:ext>
            </a:extLst>
          </p:cNvPr>
          <p:cNvGrpSpPr/>
          <p:nvPr/>
        </p:nvGrpSpPr>
        <p:grpSpPr>
          <a:xfrm>
            <a:off x="4316973" y="4434849"/>
            <a:ext cx="1399307" cy="1807739"/>
            <a:chOff x="4106320" y="4061083"/>
            <a:chExt cx="1399307" cy="1807739"/>
          </a:xfrm>
        </p:grpSpPr>
        <p:pic>
          <p:nvPicPr>
            <p:cNvPr id="24" name="Picture 23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2F17AE6D-EA91-7903-D789-0B7ADA918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06320" y="4061083"/>
              <a:ext cx="1399307" cy="1399307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477DE11-BFE0-D7E4-68D5-EB5AA605D303}"/>
                </a:ext>
              </a:extLst>
            </p:cNvPr>
            <p:cNvSpPr txBox="1"/>
            <p:nvPr/>
          </p:nvSpPr>
          <p:spPr>
            <a:xfrm>
              <a:off x="4437764" y="5468712"/>
              <a:ext cx="7364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Data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F44A1C5-A7AA-1271-D2AC-DC6D2B0D3709}"/>
              </a:ext>
            </a:extLst>
          </p:cNvPr>
          <p:cNvGrpSpPr/>
          <p:nvPr/>
        </p:nvGrpSpPr>
        <p:grpSpPr>
          <a:xfrm>
            <a:off x="6771850" y="4306777"/>
            <a:ext cx="1502981" cy="1903091"/>
            <a:chOff x="4439194" y="4706887"/>
            <a:chExt cx="1502981" cy="1903091"/>
          </a:xfrm>
        </p:grpSpPr>
        <p:pic>
          <p:nvPicPr>
            <p:cNvPr id="26" name="Picture 25" descr="A light bulb with a gear inside&#10;&#10;AI-generated content may be incorrect.">
              <a:extLst>
                <a:ext uri="{FF2B5EF4-FFF2-40B4-BE49-F238E27FC236}">
                  <a16:creationId xmlns:a16="http://schemas.microsoft.com/office/drawing/2014/main" id="{492261F0-40B4-6CA6-8FA4-3B1B7848881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39194" y="4706887"/>
              <a:ext cx="1502981" cy="1502981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FFE9C83-C631-E423-4FCE-61A30500052D}"/>
                </a:ext>
              </a:extLst>
            </p:cNvPr>
            <p:cNvSpPr txBox="1"/>
            <p:nvPr/>
          </p:nvSpPr>
          <p:spPr>
            <a:xfrm>
              <a:off x="4633922" y="6209868"/>
              <a:ext cx="111562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F85E22"/>
                  </a:solidFill>
                </a:rPr>
                <a:t>Insights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756FFDA-64D9-CF20-026C-58FA532DC55A}"/>
              </a:ext>
            </a:extLst>
          </p:cNvPr>
          <p:cNvGrpSpPr/>
          <p:nvPr/>
        </p:nvGrpSpPr>
        <p:grpSpPr>
          <a:xfrm>
            <a:off x="9412128" y="4306776"/>
            <a:ext cx="2327304" cy="1903092"/>
            <a:chOff x="5838501" y="4706886"/>
            <a:chExt cx="2327304" cy="1903092"/>
          </a:xfrm>
        </p:grpSpPr>
        <p:pic>
          <p:nvPicPr>
            <p:cNvPr id="22" name="Picture 21" descr="A box with arrows and red and blue arrows&#10;&#10;AI-generated content may be incorrect.">
              <a:extLst>
                <a:ext uri="{FF2B5EF4-FFF2-40B4-BE49-F238E27FC236}">
                  <a16:creationId xmlns:a16="http://schemas.microsoft.com/office/drawing/2014/main" id="{CFD22943-C282-B175-742C-1E3C2AB0F94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43580" y="4706886"/>
              <a:ext cx="1502981" cy="1502981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43FF933-F55D-4384-6008-DA395271BCDB}"/>
                </a:ext>
              </a:extLst>
            </p:cNvPr>
            <p:cNvSpPr txBox="1"/>
            <p:nvPr/>
          </p:nvSpPr>
          <p:spPr>
            <a:xfrm>
              <a:off x="5838501" y="6209868"/>
              <a:ext cx="23273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0B050"/>
                  </a:solidFill>
                </a:rPr>
                <a:t>Product Decisions</a:t>
              </a:r>
            </a:p>
          </p:txBody>
        </p:sp>
      </p:grp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8BC24871-3E87-1125-ACCD-CB1A0F631120}"/>
              </a:ext>
            </a:extLst>
          </p:cNvPr>
          <p:cNvSpPr/>
          <p:nvPr/>
        </p:nvSpPr>
        <p:spPr>
          <a:xfrm>
            <a:off x="5642815" y="5207490"/>
            <a:ext cx="1055570" cy="626666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F43E55F4-8B8B-C328-4891-1DE7086ACE0C}"/>
              </a:ext>
            </a:extLst>
          </p:cNvPr>
          <p:cNvSpPr/>
          <p:nvPr/>
        </p:nvSpPr>
        <p:spPr>
          <a:xfrm>
            <a:off x="8356558" y="5207490"/>
            <a:ext cx="1055570" cy="626666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purple circle with black border&#10;&#10;AI-generated content may be incorrect.">
            <a:extLst>
              <a:ext uri="{FF2B5EF4-FFF2-40B4-BE49-F238E27FC236}">
                <a16:creationId xmlns:a16="http://schemas.microsoft.com/office/drawing/2014/main" id="{E331B9E3-237E-239A-32B8-43DC95CA79D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2872" y="0"/>
            <a:ext cx="1352381" cy="61904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35E33F0-93EB-7DF9-36DA-BC69FEE5D32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452" y="5122313"/>
            <a:ext cx="512988" cy="161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518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urple circle with black border&#10;&#10;AI-generated content may be incorrect.">
            <a:extLst>
              <a:ext uri="{FF2B5EF4-FFF2-40B4-BE49-F238E27FC236}">
                <a16:creationId xmlns:a16="http://schemas.microsoft.com/office/drawing/2014/main" id="{DA9D03E7-AF8D-D08F-AC5B-097FBE5A77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0844" y="-28956"/>
            <a:ext cx="2168661" cy="9926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FF47628-A884-0261-9AF3-BA195FCED2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1595094" y="495490"/>
            <a:ext cx="627386" cy="1975104"/>
          </a:xfrm>
          <a:prstGeom prst="rect">
            <a:avLst/>
          </a:prstGeom>
        </p:spPr>
      </p:pic>
      <p:pic>
        <p:nvPicPr>
          <p:cNvPr id="7" name="Picture 6" descr="A black and blue face with orange circle&#10;&#10;AI-generated content may be incorrect.">
            <a:extLst>
              <a:ext uri="{FF2B5EF4-FFF2-40B4-BE49-F238E27FC236}">
                <a16:creationId xmlns:a16="http://schemas.microsoft.com/office/drawing/2014/main" id="{FB72D6EE-98C4-0360-2E64-1665D4E9DD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9444" y="5762961"/>
            <a:ext cx="2167128" cy="1123995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DECFE82-BF78-8FFA-37CA-27113D5C46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4500639"/>
              </p:ext>
            </p:extLst>
          </p:nvPr>
        </p:nvGraphicFramePr>
        <p:xfrm>
          <a:off x="4821433" y="1974024"/>
          <a:ext cx="6823342" cy="3168046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  <a:tableStyleId>{21E4AEA4-8DFA-4A89-87EB-49C32662AFE0}</a:tableStyleId>
              </a:tblPr>
              <a:tblGrid>
                <a:gridCol w="4778329">
                  <a:extLst>
                    <a:ext uri="{9D8B030D-6E8A-4147-A177-3AD203B41FA5}">
                      <a16:colId xmlns:a16="http://schemas.microsoft.com/office/drawing/2014/main" val="1980336133"/>
                    </a:ext>
                  </a:extLst>
                </a:gridCol>
                <a:gridCol w="2045013">
                  <a:extLst>
                    <a:ext uri="{9D8B030D-6E8A-4147-A177-3AD203B41FA5}">
                      <a16:colId xmlns:a16="http://schemas.microsoft.com/office/drawing/2014/main" val="3270388243"/>
                    </a:ext>
                  </a:extLst>
                </a:gridCol>
              </a:tblGrid>
              <a:tr h="518929">
                <a:tc>
                  <a:txBody>
                    <a:bodyPr/>
                    <a:lstStyle/>
                    <a:p>
                      <a:r>
                        <a:rPr lang="en-US" sz="2100" b="0" cap="none" spc="0">
                          <a:solidFill>
                            <a:schemeClr val="bg1"/>
                          </a:solidFill>
                        </a:rPr>
                        <a:t>Hypothesis</a:t>
                      </a:r>
                    </a:p>
                  </a:txBody>
                  <a:tcPr marL="115354" marR="115354" marT="115354" marB="5767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100" b="0" cap="none" spc="0">
                          <a:solidFill>
                            <a:schemeClr val="bg1"/>
                          </a:solidFill>
                        </a:rPr>
                        <a:t>Status</a:t>
                      </a:r>
                    </a:p>
                  </a:txBody>
                  <a:tcPr marL="115354" marR="115354" marT="115354" marB="5767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361379"/>
                  </a:ext>
                </a:extLst>
              </a:tr>
              <a:tr h="437221">
                <a:tc>
                  <a:txBody>
                    <a:bodyPr/>
                    <a:lstStyle/>
                    <a:p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H1:</a:t>
                      </a: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 Higher Trust → higher Preference</a:t>
                      </a:r>
                    </a:p>
                  </a:txBody>
                  <a:tcPr marL="115354" marR="115354" marT="115354" marB="576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Accepted</a:t>
                      </a:r>
                      <a:endParaRPr lang="en-US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5354" marR="115354" marT="115354" marB="576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678300"/>
                  </a:ext>
                </a:extLst>
              </a:tr>
              <a:tr h="668727">
                <a:tc>
                  <a:txBody>
                    <a:bodyPr/>
                    <a:lstStyle/>
                    <a:p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H2:</a:t>
                      </a: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 Higher Convenience → higher Preference</a:t>
                      </a:r>
                    </a:p>
                  </a:txBody>
                  <a:tcPr marL="115354" marR="115354" marT="115354" marB="576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Accepted</a:t>
                      </a:r>
                      <a:endParaRPr lang="en-US" sz="1500" cap="none" spc="0">
                        <a:solidFill>
                          <a:schemeClr val="tx1"/>
                        </a:solidFill>
                      </a:endParaRPr>
                    </a:p>
                    <a:p>
                      <a:endParaRPr lang="en-US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5354" marR="115354" marT="115354" marB="5767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9339446"/>
                  </a:ext>
                </a:extLst>
              </a:tr>
              <a:tr h="437221">
                <a:tc>
                  <a:txBody>
                    <a:bodyPr/>
                    <a:lstStyle/>
                    <a:p>
                      <a:r>
                        <a:rPr lang="en-US" sz="1500" b="1" cap="none" spc="0" dirty="0">
                          <a:solidFill>
                            <a:schemeClr val="tx1"/>
                          </a:solidFill>
                        </a:rPr>
                        <a:t>H3:</a:t>
                      </a:r>
                      <a:r>
                        <a:rPr lang="en-US" sz="1500" cap="none" spc="0" dirty="0">
                          <a:solidFill>
                            <a:schemeClr val="tx1"/>
                          </a:solidFill>
                        </a:rPr>
                        <a:t> Tech comfort differences in Trust &amp; Preference</a:t>
                      </a:r>
                    </a:p>
                  </a:txBody>
                  <a:tcPr marL="115354" marR="115354" marT="115354" marB="576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Rejected</a:t>
                      </a:r>
                      <a:endParaRPr lang="en-US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5354" marR="115354" marT="115354" marB="576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607366"/>
                  </a:ext>
                </a:extLst>
              </a:tr>
              <a:tr h="437221">
                <a:tc>
                  <a:txBody>
                    <a:bodyPr/>
                    <a:lstStyle/>
                    <a:p>
                      <a:r>
                        <a:rPr lang="en-US" sz="1500" b="1" cap="none" spc="0" dirty="0">
                          <a:solidFill>
                            <a:schemeClr val="tx1"/>
                          </a:solidFill>
                        </a:rPr>
                        <a:t>H4:</a:t>
                      </a:r>
                      <a:r>
                        <a:rPr lang="en-US" sz="1500" cap="none" spc="0" dirty="0">
                          <a:solidFill>
                            <a:schemeClr val="tx1"/>
                          </a:solidFill>
                        </a:rPr>
                        <a:t> AI frequency differences in attitudes</a:t>
                      </a:r>
                    </a:p>
                  </a:txBody>
                  <a:tcPr marL="115354" marR="115354" marT="115354" marB="576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Partially Accepted</a:t>
                      </a:r>
                      <a:endParaRPr lang="en-US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5354" marR="115354" marT="115354" marB="576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937141"/>
                  </a:ext>
                </a:extLst>
              </a:tr>
              <a:tr h="668727">
                <a:tc>
                  <a:txBody>
                    <a:bodyPr/>
                    <a:lstStyle/>
                    <a:p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H5:</a:t>
                      </a: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 Trust + Helpfulness + Convenience jointly predict Preference</a:t>
                      </a:r>
                    </a:p>
                  </a:txBody>
                  <a:tcPr marL="115354" marR="115354" marT="115354" marB="576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cap="none" spc="0" dirty="0">
                          <a:solidFill>
                            <a:schemeClr val="tx1"/>
                          </a:solidFill>
                        </a:rPr>
                        <a:t>Accepted</a:t>
                      </a:r>
                      <a:endParaRPr lang="en-US" sz="15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15354" marR="115354" marT="115354" marB="5767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0844979"/>
                  </a:ext>
                </a:extLst>
              </a:tr>
            </a:tbl>
          </a:graphicData>
        </a:graphic>
      </p:graphicFrame>
      <p:pic>
        <p:nvPicPr>
          <p:cNvPr id="16" name="Picture 15" descr="An orange circle with black background">
            <a:extLst>
              <a:ext uri="{FF2B5EF4-FFF2-40B4-BE49-F238E27FC236}">
                <a16:creationId xmlns:a16="http://schemas.microsoft.com/office/drawing/2014/main" id="{45C688FE-2895-8CD5-696A-EBECB5BF3A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7" t="2403" b="2801"/>
          <a:stretch/>
        </p:blipFill>
        <p:spPr>
          <a:xfrm>
            <a:off x="-1" y="-7936"/>
            <a:ext cx="4470913" cy="68869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BA8F06-3376-A500-6DFB-BC00C6AB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1161288"/>
            <a:ext cx="3438144" cy="1124712"/>
          </a:xfrm>
        </p:spPr>
        <p:txBody>
          <a:bodyPr anchor="b">
            <a:no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Research Question &amp; Hypotheses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4CDA2-C5D9-C9FF-028A-BF36D9A51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759" y="2715768"/>
            <a:ext cx="3878317" cy="32095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RQ:</a:t>
            </a:r>
          </a:p>
          <a:p>
            <a:pPr marL="0" indent="0">
              <a:buNone/>
            </a:pPr>
            <a:r>
              <a:rPr lang="en-US" sz="2400" dirty="0"/>
              <a:t>How do experience and perceptions (trust, convenience, helpfulness, ease) shape public preference for AI vs human customer service?</a:t>
            </a:r>
          </a:p>
        </p:txBody>
      </p:sp>
    </p:spTree>
    <p:extLst>
      <p:ext uri="{BB962C8B-B14F-4D97-AF65-F5344CB8AC3E}">
        <p14:creationId xmlns:p14="http://schemas.microsoft.com/office/powerpoint/2010/main" val="2962909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ack and orange circle&#10;&#10;AI-generated content may be incorrect.">
            <a:extLst>
              <a:ext uri="{FF2B5EF4-FFF2-40B4-BE49-F238E27FC236}">
                <a16:creationId xmlns:a16="http://schemas.microsoft.com/office/drawing/2014/main" id="{BD8EEBC3-5448-DEA7-33F0-AA7831800C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0" t="1" r="58714" b="1135"/>
          <a:stretch/>
        </p:blipFill>
        <p:spPr>
          <a:xfrm>
            <a:off x="52553" y="168169"/>
            <a:ext cx="3689131" cy="269064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DC21CA4-4A27-18B3-670B-9700BD2C3723}"/>
              </a:ext>
            </a:extLst>
          </p:cNvPr>
          <p:cNvSpPr txBox="1">
            <a:spLocks/>
          </p:cNvSpPr>
          <p:nvPr/>
        </p:nvSpPr>
        <p:spPr>
          <a:xfrm>
            <a:off x="584646" y="889284"/>
            <a:ext cx="2757644" cy="1412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 sz="3200" dirty="0">
                <a:solidFill>
                  <a:schemeClr val="bg1"/>
                </a:solidFill>
              </a:rPr>
              <a:t>Methodology</a:t>
            </a:r>
            <a:r>
              <a:rPr lang="en-US" sz="3200" dirty="0"/>
              <a:t> &amp; Sample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F66AFE8-2855-A28B-4B82-D549689287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5197901"/>
              </p:ext>
            </p:extLst>
          </p:nvPr>
        </p:nvGraphicFramePr>
        <p:xfrm>
          <a:off x="4515924" y="263557"/>
          <a:ext cx="6139634" cy="328076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67724">
                  <a:extLst>
                    <a:ext uri="{9D8B030D-6E8A-4147-A177-3AD203B41FA5}">
                      <a16:colId xmlns:a16="http://schemas.microsoft.com/office/drawing/2014/main" val="3505030873"/>
                    </a:ext>
                  </a:extLst>
                </a:gridCol>
                <a:gridCol w="1114108">
                  <a:extLst>
                    <a:ext uri="{9D8B030D-6E8A-4147-A177-3AD203B41FA5}">
                      <a16:colId xmlns:a16="http://schemas.microsoft.com/office/drawing/2014/main" val="1271886878"/>
                    </a:ext>
                  </a:extLst>
                </a:gridCol>
                <a:gridCol w="2957802">
                  <a:extLst>
                    <a:ext uri="{9D8B030D-6E8A-4147-A177-3AD203B41FA5}">
                      <a16:colId xmlns:a16="http://schemas.microsoft.com/office/drawing/2014/main" val="1592209809"/>
                    </a:ext>
                  </a:extLst>
                </a:gridCol>
              </a:tblGrid>
              <a:tr h="31378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Construct</a:t>
                      </a:r>
                    </a:p>
                  </a:txBody>
                  <a:tcPr marL="67721" marR="67721" marT="33861" marB="338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Items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721" marR="67721" marT="33861" marB="3386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Example Statement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721" marR="67721" marT="33861" marB="33861" anchor="ctr"/>
                </a:tc>
                <a:extLst>
                  <a:ext uri="{0D108BD9-81ED-4DB2-BD59-A6C34878D82A}">
                    <a16:rowId xmlns:a16="http://schemas.microsoft.com/office/drawing/2014/main" val="2879260460"/>
                  </a:ext>
                </a:extLst>
              </a:tr>
              <a:tr h="527737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Helpfulness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721" marR="67721" marT="33861" marB="3386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Q4–Q8</a:t>
                      </a:r>
                    </a:p>
                  </a:txBody>
                  <a:tcPr marL="67721" marR="67721" marT="33861" marB="33861"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“AI tools help me find the information I need.”</a:t>
                      </a:r>
                    </a:p>
                  </a:txBody>
                  <a:tcPr marL="67721" marR="67721" marT="33861" marB="33861" anchor="ctr"/>
                </a:tc>
                <a:extLst>
                  <a:ext uri="{0D108BD9-81ED-4DB2-BD59-A6C34878D82A}">
                    <a16:rowId xmlns:a16="http://schemas.microsoft.com/office/drawing/2014/main" val="2900504759"/>
                  </a:ext>
                </a:extLst>
              </a:tr>
              <a:tr h="745372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Convenience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721" marR="67721" marT="33861" marB="3386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Q9–Q13</a:t>
                      </a:r>
                    </a:p>
                  </a:txBody>
                  <a:tcPr marL="67721" marR="67721" marT="33861" marB="33861"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“AI systems are available whenever I need assistance.”</a:t>
                      </a:r>
                    </a:p>
                  </a:txBody>
                  <a:tcPr marL="67721" marR="67721" marT="33861" marB="33861" anchor="ctr"/>
                </a:tc>
                <a:extLst>
                  <a:ext uri="{0D108BD9-81ED-4DB2-BD59-A6C34878D82A}">
                    <a16:rowId xmlns:a16="http://schemas.microsoft.com/office/drawing/2014/main" val="1948183112"/>
                  </a:ext>
                </a:extLst>
              </a:tr>
              <a:tr h="527737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Trust</a:t>
                      </a:r>
                    </a:p>
                  </a:txBody>
                  <a:tcPr marL="67721" marR="67721" marT="33861" marB="3386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Q14–Q18</a:t>
                      </a:r>
                    </a:p>
                  </a:txBody>
                  <a:tcPr marL="67721" marR="67721" marT="33861" marB="33861"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“I believe AI tools provide reliable information.”</a:t>
                      </a:r>
                    </a:p>
                  </a:txBody>
                  <a:tcPr marL="67721" marR="67721" marT="33861" marB="33861" anchor="ctr"/>
                </a:tc>
                <a:extLst>
                  <a:ext uri="{0D108BD9-81ED-4DB2-BD59-A6C34878D82A}">
                    <a16:rowId xmlns:a16="http://schemas.microsoft.com/office/drawing/2014/main" val="3018291464"/>
                  </a:ext>
                </a:extLst>
              </a:tr>
              <a:tr h="527737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Ease / Low Frustration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721" marR="67721" marT="33861" marB="3386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Q19–Q23</a:t>
                      </a:r>
                    </a:p>
                  </a:txBody>
                  <a:tcPr marL="67721" marR="67721" marT="33861" marB="33861"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“Interacting with AI feels smooth and efficient.”</a:t>
                      </a:r>
                    </a:p>
                  </a:txBody>
                  <a:tcPr marL="67721" marR="67721" marT="33861" marB="33861" anchor="ctr"/>
                </a:tc>
                <a:extLst>
                  <a:ext uri="{0D108BD9-81ED-4DB2-BD59-A6C34878D82A}">
                    <a16:rowId xmlns:a16="http://schemas.microsoft.com/office/drawing/2014/main" val="2969840327"/>
                  </a:ext>
                </a:extLst>
              </a:tr>
              <a:tr h="527737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Preference for AI</a:t>
                      </a:r>
                      <a:endParaRPr lang="en-US" sz="16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721" marR="67721" marT="33861" marB="3386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Q24–Q30</a:t>
                      </a:r>
                    </a:p>
                  </a:txBody>
                  <a:tcPr marL="67721" marR="67721" marT="33861" marB="33861"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“I prefer using AI for simple inquiries.”</a:t>
                      </a:r>
                    </a:p>
                  </a:txBody>
                  <a:tcPr marL="67721" marR="67721" marT="33861" marB="33861" anchor="ctr"/>
                </a:tc>
                <a:extLst>
                  <a:ext uri="{0D108BD9-81ED-4DB2-BD59-A6C34878D82A}">
                    <a16:rowId xmlns:a16="http://schemas.microsoft.com/office/drawing/2014/main" val="1819607670"/>
                  </a:ext>
                </a:extLst>
              </a:tr>
            </a:tbl>
          </a:graphicData>
        </a:graphic>
      </p:graphicFrame>
      <p:graphicFrame>
        <p:nvGraphicFramePr>
          <p:cNvPr id="22" name="Rectangle 1">
            <a:extLst>
              <a:ext uri="{FF2B5EF4-FFF2-40B4-BE49-F238E27FC236}">
                <a16:creationId xmlns:a16="http://schemas.microsoft.com/office/drawing/2014/main" id="{0F895027-F65C-F4C8-43E3-7186C31772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7577125"/>
              </p:ext>
            </p:extLst>
          </p:nvPr>
        </p:nvGraphicFramePr>
        <p:xfrm>
          <a:off x="875115" y="3022880"/>
          <a:ext cx="11114484" cy="41057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Picture 7" descr="Blue lines in a black background&#10;&#10;AI-generated content may be incorrect.">
            <a:extLst>
              <a:ext uri="{FF2B5EF4-FFF2-40B4-BE49-F238E27FC236}">
                <a16:creationId xmlns:a16="http://schemas.microsoft.com/office/drawing/2014/main" id="{B244F440-6D2D-27AB-057D-50C9F1F9A67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047721">
            <a:off x="10916546" y="304801"/>
            <a:ext cx="1608081" cy="990838"/>
          </a:xfrm>
          <a:prstGeom prst="rect">
            <a:avLst/>
          </a:prstGeom>
        </p:spPr>
      </p:pic>
      <p:pic>
        <p:nvPicPr>
          <p:cNvPr id="10" name="Picture 9" descr="A black and blue face with orange circle&#10;&#10;AI-generated content may be incorrect.">
            <a:extLst>
              <a:ext uri="{FF2B5EF4-FFF2-40B4-BE49-F238E27FC236}">
                <a16:creationId xmlns:a16="http://schemas.microsoft.com/office/drawing/2014/main" id="{824AB557-E8A2-9CBA-6AE5-658E5250014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366" y="6007210"/>
            <a:ext cx="1660634" cy="861299"/>
          </a:xfrm>
          <a:prstGeom prst="rect">
            <a:avLst/>
          </a:prstGeom>
        </p:spPr>
      </p:pic>
      <p:pic>
        <p:nvPicPr>
          <p:cNvPr id="12" name="Picture 11" descr="A black and green rectangle with a green line&#10;&#10;AI-generated content may be incorrect.">
            <a:extLst>
              <a:ext uri="{FF2B5EF4-FFF2-40B4-BE49-F238E27FC236}">
                <a16:creationId xmlns:a16="http://schemas.microsoft.com/office/drawing/2014/main" id="{7EE3896F-1042-2415-4A73-5AB87A8DB5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94946"/>
            <a:ext cx="843754" cy="573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968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orange and purple circle">
            <a:extLst>
              <a:ext uri="{FF2B5EF4-FFF2-40B4-BE49-F238E27FC236}">
                <a16:creationId xmlns:a16="http://schemas.microsoft.com/office/drawing/2014/main" id="{1FE9F5A3-2012-BB69-0DA0-87D5E3E6F26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8130"/>
            <a:ext cx="4866667" cy="490476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AED59-9C45-FBA6-F59C-E44F8F2E8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647961"/>
            <a:ext cx="5254754" cy="178725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200" dirty="0"/>
              <a:t>On a 1–5 scale, attitudes are slightly above neutral: Convenience and Preference are around 3.0, while Trust, Helpfulness, and Ease are just below or slightly under 3.</a:t>
            </a:r>
          </a:p>
        </p:txBody>
      </p:sp>
      <p:pic>
        <p:nvPicPr>
          <p:cNvPr id="11" name="Picture 10" descr="A black and blue face with orange circle&#10;&#10;AI-generated content may be incorrect.">
            <a:extLst>
              <a:ext uri="{FF2B5EF4-FFF2-40B4-BE49-F238E27FC236}">
                <a16:creationId xmlns:a16="http://schemas.microsoft.com/office/drawing/2014/main" id="{CCF09CDD-D022-9FBB-3A76-93AC4E6E97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172711" y="297302"/>
            <a:ext cx="1352183" cy="7013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8BF0D06-EE34-403A-0CCF-5A1450AA2F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58213"/>
            <a:ext cx="257143" cy="809524"/>
          </a:xfrm>
          <a:prstGeom prst="rect">
            <a:avLst/>
          </a:prstGeom>
        </p:spPr>
      </p:pic>
      <p:pic>
        <p:nvPicPr>
          <p:cNvPr id="15" name="Picture 14" descr="A graph with text on it&#10;&#10;AI-generated content may be incorrect.">
            <a:extLst>
              <a:ext uri="{FF2B5EF4-FFF2-40B4-BE49-F238E27FC236}">
                <a16:creationId xmlns:a16="http://schemas.microsoft.com/office/drawing/2014/main" id="{4F53E194-E806-D9B3-C149-5328F1306C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980" y="2301766"/>
            <a:ext cx="6392053" cy="429873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47F4232-0561-E804-1A49-9674AE862F74}"/>
              </a:ext>
            </a:extLst>
          </p:cNvPr>
          <p:cNvSpPr txBox="1"/>
          <p:nvPr/>
        </p:nvSpPr>
        <p:spPr>
          <a:xfrm>
            <a:off x="3848414" y="4300674"/>
            <a:ext cx="15539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n = 63</a:t>
            </a:r>
          </a:p>
          <a:p>
            <a:r>
              <a:rPr lang="en-US" sz="2400" dirty="0"/>
              <a:t>Likert 1–5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1224D8-083E-3F21-E83E-7D40390668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2967" y="1475803"/>
            <a:ext cx="4117455" cy="1953197"/>
          </a:xfrm>
        </p:spPr>
        <p:txBody>
          <a:bodyPr anchor="t">
            <a:no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Overall Attitudes Toward AI (Means)</a:t>
            </a:r>
          </a:p>
        </p:txBody>
      </p:sp>
    </p:spTree>
    <p:extLst>
      <p:ext uri="{BB962C8B-B14F-4D97-AF65-F5344CB8AC3E}">
        <p14:creationId xmlns:p14="http://schemas.microsoft.com/office/powerpoint/2010/main" val="1801608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 descr="An orange and black half circle&#10;&#10;AI-generated content may be incorrect.">
            <a:extLst>
              <a:ext uri="{FF2B5EF4-FFF2-40B4-BE49-F238E27FC236}">
                <a16:creationId xmlns:a16="http://schemas.microsoft.com/office/drawing/2014/main" id="{C1576EEE-2441-718B-34DD-F473573A87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57" t="9693"/>
          <a:stretch/>
        </p:blipFill>
        <p:spPr>
          <a:xfrm>
            <a:off x="0" y="-11194"/>
            <a:ext cx="3093720" cy="5327404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EFFE3071-FDDB-D886-A3A6-10A1B1802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2796"/>
            <a:ext cx="2871095" cy="21566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How the Constructs Relate (Correlations)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362EC0D2-5C51-313E-1B4F-95F6A544D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6414" y="2645566"/>
            <a:ext cx="2331736" cy="1412367"/>
          </a:xfr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dirty="0"/>
              <a:t>Trust, Helpfulness, Convenience, Ease, and Preference are all strongly positively correlated.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4CB23458-DB92-118F-294E-82C0E44B37A6}"/>
              </a:ext>
            </a:extLst>
          </p:cNvPr>
          <p:cNvSpPr txBox="1">
            <a:spLocks/>
          </p:cNvSpPr>
          <p:nvPr/>
        </p:nvSpPr>
        <p:spPr>
          <a:xfrm>
            <a:off x="484458" y="5302422"/>
            <a:ext cx="6690225" cy="141236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dirty="0"/>
              <a:t>Trust–Preference: r = 0.735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dirty="0"/>
              <a:t>Convenience–Preference: r = 0.695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dirty="0"/>
              <a:t>All correlations between constructs ≥ ~0.67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450F452-F467-8F4A-85DF-64A9DAB972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74403" y="45632"/>
            <a:ext cx="7750581" cy="585554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7E9353C-CAD2-4DF0-144C-B375CC797D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1838761" y="-118561"/>
            <a:ext cx="380081" cy="1196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082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B6040-2D1E-DF2A-1628-1787580FC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Drives Preference for AI?</a:t>
            </a:r>
          </a:p>
        </p:txBody>
      </p:sp>
      <p:sp>
        <p:nvSpPr>
          <p:cNvPr id="28" name="Rectangle 1">
            <a:extLst>
              <a:ext uri="{FF2B5EF4-FFF2-40B4-BE49-F238E27FC236}">
                <a16:creationId xmlns:a16="http://schemas.microsoft.com/office/drawing/2014/main" id="{EC3149B3-C455-92C8-E79F-BDD5669882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3792" y="5356036"/>
            <a:ext cx="7175240" cy="114804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1600" kern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Model: Preference ~ Trust + Helpfulness + Convenience</a:t>
            </a:r>
          </a:p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1600" kern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R² ≈ </a:t>
            </a:r>
            <a:r>
              <a:rPr lang="en-US" altLang="en-US" sz="1600" b="1" kern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0.81</a:t>
            </a:r>
            <a:r>
              <a:rPr lang="en-US" altLang="en-US" sz="1600" kern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“We explain ~81% of the variation in Preference.”</a:t>
            </a:r>
          </a:p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1600" kern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Trust has the strongest coefficient; Helpfulness and Convenience also significant.</a:t>
            </a:r>
          </a:p>
        </p:txBody>
      </p:sp>
      <p:sp>
        <p:nvSpPr>
          <p:cNvPr id="32" name="Rectangle 1">
            <a:extLst>
              <a:ext uri="{FF2B5EF4-FFF2-40B4-BE49-F238E27FC236}">
                <a16:creationId xmlns:a16="http://schemas.microsoft.com/office/drawing/2014/main" id="{7681B218-19E5-3D33-9DA0-0625123BDF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882" y="4609210"/>
            <a:ext cx="3391942" cy="180092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spcAft>
                <a:spcPts val="600"/>
              </a:spcAft>
              <a:buNone/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confirms that product changes that improve trust, helpfulness, and convenience will strongly increase willingness to use AI.</a:t>
            </a:r>
            <a:endParaRPr lang="en-US" altLang="en-US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ECC4508-9041-4A5F-DCB2-A9212D150F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38397"/>
              </p:ext>
            </p:extLst>
          </p:nvPr>
        </p:nvGraphicFramePr>
        <p:xfrm>
          <a:off x="5298776" y="3660998"/>
          <a:ext cx="5627371" cy="1341120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2147053">
                  <a:extLst>
                    <a:ext uri="{9D8B030D-6E8A-4147-A177-3AD203B41FA5}">
                      <a16:colId xmlns:a16="http://schemas.microsoft.com/office/drawing/2014/main" val="2196122055"/>
                    </a:ext>
                  </a:extLst>
                </a:gridCol>
                <a:gridCol w="1296955">
                  <a:extLst>
                    <a:ext uri="{9D8B030D-6E8A-4147-A177-3AD203B41FA5}">
                      <a16:colId xmlns:a16="http://schemas.microsoft.com/office/drawing/2014/main" val="1206051904"/>
                    </a:ext>
                  </a:extLst>
                </a:gridCol>
                <a:gridCol w="2183363">
                  <a:extLst>
                    <a:ext uri="{9D8B030D-6E8A-4147-A177-3AD203B41FA5}">
                      <a16:colId xmlns:a16="http://schemas.microsoft.com/office/drawing/2014/main" val="11822798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Predictor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Coefficient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p-value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7325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 dirty="0"/>
                        <a:t>Preference_for_AI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0.574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&lt; 0.001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9153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/>
                        <a:t>Trust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0.351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0.002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0775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/>
                        <a:t>Ease_of_Interaction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0.146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0.252 (not significant)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5908324"/>
                  </a:ext>
                </a:extLst>
              </a:tr>
            </a:tbl>
          </a:graphicData>
        </a:graphic>
      </p:graphicFrame>
      <p:pic>
        <p:nvPicPr>
          <p:cNvPr id="5" name="Picture 4" descr="A graph of different colored squares">
            <a:extLst>
              <a:ext uri="{FF2B5EF4-FFF2-40B4-BE49-F238E27FC236}">
                <a16:creationId xmlns:a16="http://schemas.microsoft.com/office/drawing/2014/main" id="{FE1B49A7-8666-CA0E-9C59-D17939BF5A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951"/>
          <a:stretch/>
        </p:blipFill>
        <p:spPr>
          <a:xfrm>
            <a:off x="5467537" y="231998"/>
            <a:ext cx="5099648" cy="31970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20885A-D50D-562B-BA90-47DA8BC73E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1950140" y="4700146"/>
            <a:ext cx="257143" cy="809524"/>
          </a:xfrm>
          <a:prstGeom prst="rect">
            <a:avLst/>
          </a:prstGeom>
        </p:spPr>
      </p:pic>
      <p:pic>
        <p:nvPicPr>
          <p:cNvPr id="9" name="Picture 8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2BFC15E3-04ED-D792-0406-33F9933F7C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871" y="3429000"/>
            <a:ext cx="866975" cy="873856"/>
          </a:xfrm>
          <a:prstGeom prst="rect">
            <a:avLst/>
          </a:prstGeom>
        </p:spPr>
      </p:pic>
      <p:pic>
        <p:nvPicPr>
          <p:cNvPr id="11" name="Picture 10" descr="A green line on a black background">
            <a:extLst>
              <a:ext uri="{FF2B5EF4-FFF2-40B4-BE49-F238E27FC236}">
                <a16:creationId xmlns:a16="http://schemas.microsoft.com/office/drawing/2014/main" id="{D455C8FD-11CA-F590-AA3D-243ADF8820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1"/>
          <a:stretch/>
        </p:blipFill>
        <p:spPr>
          <a:xfrm>
            <a:off x="-3" y="4522"/>
            <a:ext cx="1671216" cy="1138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475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0386E-F81B-7CEC-0791-183BA7DB2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85" y="349648"/>
            <a:ext cx="7898320" cy="625408"/>
          </a:xfrm>
        </p:spPr>
        <p:txBody>
          <a:bodyPr anchor="b">
            <a:norm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H3 – Does Tech Comfort Change Attitudes?	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2C82DFB-3B9C-DC69-F1E0-61F902F97F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9485" y="1288052"/>
            <a:ext cx="7298229" cy="18050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ANOVA shows no significant differences in Trust or Preference across tech-comfort levels.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 = 0.63 for Trust, p = 0.13 for Preference →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H3 rejected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0" name="Picture 39" descr="A screenshot of a graph">
            <a:extLst>
              <a:ext uri="{FF2B5EF4-FFF2-40B4-BE49-F238E27FC236}">
                <a16:creationId xmlns:a16="http://schemas.microsoft.com/office/drawing/2014/main" id="{E8EB59D2-48DC-85B2-EAD7-DCDC54BF00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85" y="2796803"/>
            <a:ext cx="5448208" cy="2683243"/>
          </a:xfrm>
          <a:prstGeom prst="rect">
            <a:avLst/>
          </a:prstGeom>
        </p:spPr>
      </p:pic>
      <p:pic>
        <p:nvPicPr>
          <p:cNvPr id="38" name="Picture 37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8CCEADE8-49B9-7C69-A802-90698E0A60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7693" y="2796802"/>
            <a:ext cx="5480853" cy="269932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0C8FC8DC-66BE-53E5-D9FE-28221898CFD8}"/>
              </a:ext>
            </a:extLst>
          </p:cNvPr>
          <p:cNvGrpSpPr/>
          <p:nvPr/>
        </p:nvGrpSpPr>
        <p:grpSpPr>
          <a:xfrm>
            <a:off x="847509" y="5852597"/>
            <a:ext cx="10311901" cy="655754"/>
            <a:chOff x="2596495" y="4999814"/>
            <a:chExt cx="6548282" cy="86106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7F7FA62-D3A6-A6B8-991F-C561BB984F6E}"/>
                </a:ext>
              </a:extLst>
            </p:cNvPr>
            <p:cNvSpPr txBox="1"/>
            <p:nvPr/>
          </p:nvSpPr>
          <p:spPr>
            <a:xfrm>
              <a:off x="3047223" y="5214553"/>
              <a:ext cx="6097554" cy="4849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339242">
                <a:spcAft>
                  <a:spcPts val="420"/>
                </a:spcAft>
              </a:pPr>
              <a:r>
                <a:rPr lang="en-US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Attitudes toward AI are </a:t>
              </a:r>
              <a:r>
                <a:rPr lang="en-US" i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not</a:t>
              </a:r>
              <a:r>
                <a:rPr lang="en-US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just a ‘techie’ phenomenon – views are similar across comfort levels.</a:t>
              </a:r>
              <a:endParaRPr lang="en-US" sz="5400" dirty="0"/>
            </a:p>
          </p:txBody>
        </p:sp>
        <p:pic>
          <p:nvPicPr>
            <p:cNvPr id="8" name="Picture 7" descr="A light bulb with a gear inside&#10;&#10;AI-generated content may be incorrect.">
              <a:extLst>
                <a:ext uri="{FF2B5EF4-FFF2-40B4-BE49-F238E27FC236}">
                  <a16:creationId xmlns:a16="http://schemas.microsoft.com/office/drawing/2014/main" id="{A01A7767-A091-B90C-A17E-BB10B160C1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6495" y="4999814"/>
              <a:ext cx="451654" cy="861068"/>
            </a:xfrm>
            <a:prstGeom prst="rect">
              <a:avLst/>
            </a:prstGeom>
          </p:spPr>
        </p:pic>
      </p:grpSp>
      <p:pic>
        <p:nvPicPr>
          <p:cNvPr id="43" name="Picture 42" descr="A red stamp with text">
            <a:extLst>
              <a:ext uri="{FF2B5EF4-FFF2-40B4-BE49-F238E27FC236}">
                <a16:creationId xmlns:a16="http://schemas.microsoft.com/office/drawing/2014/main" id="{57179A97-0DFE-818C-3CC7-DD62EC2EA2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9287" y="1712435"/>
            <a:ext cx="3887939" cy="3887939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6F8A1647-DD19-968B-5B15-A7F23ADE67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182091" y="-2582599"/>
            <a:ext cx="110289" cy="720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780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4000"/>
    </mc:Choice>
    <mc:Fallback xmlns="">
      <p:transition advTm="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77C64-2161-8B02-D212-2E7B3C6BA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2242" y="725888"/>
            <a:ext cx="5159356" cy="1470272"/>
          </a:xfrm>
        </p:spPr>
        <p:txBody>
          <a:bodyPr anchor="t">
            <a:normAutofit/>
          </a:bodyPr>
          <a:lstStyle/>
          <a:p>
            <a:r>
              <a:rPr lang="en-US" sz="5000" dirty="0"/>
              <a:t>H4 – AI Experience Frequency &amp; Trust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D14F6A5-18FB-8D9A-B699-CA9963A611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28432" y="2931897"/>
            <a:ext cx="5048558" cy="152811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Trust scores differ significantly by AI interaction frequency – F(2,57) ≈ 6.44, p ≈ 0.003.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Frequent users trust AI more than occasional and rare users.</a:t>
            </a:r>
          </a:p>
        </p:txBody>
      </p:sp>
      <p:pic>
        <p:nvPicPr>
          <p:cNvPr id="13" name="Picture 12" descr="A screen shot of a graph&#10;&#10;AI-generated content may be incorrect.">
            <a:extLst>
              <a:ext uri="{FF2B5EF4-FFF2-40B4-BE49-F238E27FC236}">
                <a16:creationId xmlns:a16="http://schemas.microsoft.com/office/drawing/2014/main" id="{897D56C4-94A0-85C4-B9B6-9D4779D8EA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6379" y="1102200"/>
            <a:ext cx="5515466" cy="362641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08E065D-57FC-CEA3-8A24-92FB760CC9CA}"/>
              </a:ext>
            </a:extLst>
          </p:cNvPr>
          <p:cNvGrpSpPr/>
          <p:nvPr/>
        </p:nvGrpSpPr>
        <p:grpSpPr>
          <a:xfrm>
            <a:off x="6788338" y="5058335"/>
            <a:ext cx="5173507" cy="609699"/>
            <a:chOff x="2596495" y="4999814"/>
            <a:chExt cx="3533450" cy="86106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90B2EB7-83EF-B6E1-8F29-1BDB63651BAD}"/>
                </a:ext>
              </a:extLst>
            </p:cNvPr>
            <p:cNvSpPr txBox="1"/>
            <p:nvPr/>
          </p:nvSpPr>
          <p:spPr>
            <a:xfrm>
              <a:off x="3047223" y="5214552"/>
              <a:ext cx="3082722" cy="4781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284607">
                <a:spcAft>
                  <a:spcPts val="498"/>
                </a:spcAft>
              </a:pPr>
              <a:r>
                <a: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Positive experience with AI builds trust over time.</a:t>
              </a:r>
              <a:endParaRPr lang="en-US" sz="2800" dirty="0"/>
            </a:p>
          </p:txBody>
        </p:sp>
        <p:pic>
          <p:nvPicPr>
            <p:cNvPr id="11" name="Picture 10" descr="A light bulb with a gear inside&#10;&#10;AI-generated content may be incorrect.">
              <a:extLst>
                <a:ext uri="{FF2B5EF4-FFF2-40B4-BE49-F238E27FC236}">
                  <a16:creationId xmlns:a16="http://schemas.microsoft.com/office/drawing/2014/main" id="{76E873F9-447D-9D27-DD36-AEEDEE4972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6495" y="4999814"/>
              <a:ext cx="451654" cy="861068"/>
            </a:xfrm>
            <a:prstGeom prst="rect">
              <a:avLst/>
            </a:prstGeom>
          </p:spPr>
        </p:pic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2556FD27-F882-E87D-8856-19E9BDD4A9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962" y="820617"/>
            <a:ext cx="107004" cy="1202875"/>
          </a:xfrm>
          <a:prstGeom prst="rect">
            <a:avLst/>
          </a:prstGeom>
        </p:spPr>
      </p:pic>
      <p:pic>
        <p:nvPicPr>
          <p:cNvPr id="23" name="Picture 22" descr="A black and orange square&#10;&#10;AI-generated content may be incorrect.">
            <a:extLst>
              <a:ext uri="{FF2B5EF4-FFF2-40B4-BE49-F238E27FC236}">
                <a16:creationId xmlns:a16="http://schemas.microsoft.com/office/drawing/2014/main" id="{D135239A-57A0-1016-15F1-0F979B4CC9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61" b="15875"/>
          <a:stretch/>
        </p:blipFill>
        <p:spPr>
          <a:xfrm>
            <a:off x="10489623" y="5127433"/>
            <a:ext cx="1702378" cy="173056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22FCFDC-E459-AB86-16A2-3E94EC1AA9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87954"/>
            <a:ext cx="257143" cy="809524"/>
          </a:xfrm>
          <a:prstGeom prst="rect">
            <a:avLst/>
          </a:prstGeom>
        </p:spPr>
      </p:pic>
      <p:pic>
        <p:nvPicPr>
          <p:cNvPr id="30" name="Picture 29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1519A878-A039-3AC8-EA43-722A5F1D7D1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5488" y="6208374"/>
            <a:ext cx="512261" cy="516327"/>
          </a:xfrm>
          <a:prstGeom prst="rect">
            <a:avLst/>
          </a:prstGeom>
        </p:spPr>
      </p:pic>
      <p:pic>
        <p:nvPicPr>
          <p:cNvPr id="34" name="Picture 33" descr="Blue lines in a black background&#10;&#10;AI-generated content may be incorrect.">
            <a:extLst>
              <a:ext uri="{FF2B5EF4-FFF2-40B4-BE49-F238E27FC236}">
                <a16:creationId xmlns:a16="http://schemas.microsoft.com/office/drawing/2014/main" id="{0DBEBD09-734F-BA77-DB4F-6002A2E58C3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407246">
            <a:off x="-36149" y="-4553"/>
            <a:ext cx="1637371" cy="1008885"/>
          </a:xfrm>
          <a:prstGeom prst="rect">
            <a:avLst/>
          </a:prstGeom>
        </p:spPr>
      </p:pic>
      <p:pic>
        <p:nvPicPr>
          <p:cNvPr id="36" name="Picture 35" descr="A red stamp with text">
            <a:extLst>
              <a:ext uri="{FF2B5EF4-FFF2-40B4-BE49-F238E27FC236}">
                <a16:creationId xmlns:a16="http://schemas.microsoft.com/office/drawing/2014/main" id="{B077ABB2-78FE-7ED5-C945-ADB50181E03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6908" y="1518420"/>
            <a:ext cx="3887939" cy="3887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412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9253FD-933C-D92F-60E2-2164D8F22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graph">
            <a:extLst>
              <a:ext uri="{FF2B5EF4-FFF2-40B4-BE49-F238E27FC236}">
                <a16:creationId xmlns:a16="http://schemas.microsoft.com/office/drawing/2014/main" id="{DAF9E4CC-96D4-7F23-AC19-A5392370FF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159402"/>
            <a:ext cx="6903720" cy="4539196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262B9D3-91BC-B785-830A-F847907735F7}"/>
              </a:ext>
            </a:extLst>
          </p:cNvPr>
          <p:cNvGrpSpPr/>
          <p:nvPr/>
        </p:nvGrpSpPr>
        <p:grpSpPr>
          <a:xfrm>
            <a:off x="4833261" y="5761134"/>
            <a:ext cx="6207068" cy="720399"/>
            <a:chOff x="2586587" y="4817430"/>
            <a:chExt cx="5757831" cy="101740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ADBA28E-4D7F-B8FB-F093-CF27E3EAD1BB}"/>
                </a:ext>
              </a:extLst>
            </p:cNvPr>
            <p:cNvSpPr txBox="1"/>
            <p:nvPr/>
          </p:nvSpPr>
          <p:spPr>
            <a:xfrm>
              <a:off x="3048149" y="4922035"/>
              <a:ext cx="5296269" cy="9128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284607">
                <a:spcAft>
                  <a:spcPts val="498"/>
                </a:spcAft>
              </a:pPr>
              <a:r>
                <a:rPr lang="en-US" dirty="0"/>
                <a:t>Users who use AI more often find it smoother and less frustrating, even if they don’t rate it as more convenient.</a:t>
              </a:r>
              <a:endParaRPr lang="en-US" sz="3200" dirty="0"/>
            </a:p>
          </p:txBody>
        </p:sp>
        <p:pic>
          <p:nvPicPr>
            <p:cNvPr id="9" name="Picture 8" descr="A light bulb with a gear inside&#10;&#10;AI-generated content may be incorrect.">
              <a:extLst>
                <a:ext uri="{FF2B5EF4-FFF2-40B4-BE49-F238E27FC236}">
                  <a16:creationId xmlns:a16="http://schemas.microsoft.com/office/drawing/2014/main" id="{35610AE1-CA75-DED9-4BF1-514F1533A3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86587" y="4817430"/>
              <a:ext cx="553941" cy="890641"/>
            </a:xfrm>
            <a:prstGeom prst="rect">
              <a:avLst/>
            </a:prstGeom>
          </p:spPr>
        </p:pic>
      </p:grpSp>
      <p:pic>
        <p:nvPicPr>
          <p:cNvPr id="15" name="Picture 14" descr="A black and green rectangular object&#10;&#10;AI-generated content may be incorrect.">
            <a:extLst>
              <a:ext uri="{FF2B5EF4-FFF2-40B4-BE49-F238E27FC236}">
                <a16:creationId xmlns:a16="http://schemas.microsoft.com/office/drawing/2014/main" id="{D26182E0-FAEF-C4CC-FF90-074528E6FE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665995" y="6351451"/>
            <a:ext cx="268565" cy="744533"/>
          </a:xfrm>
          <a:prstGeom prst="rect">
            <a:avLst/>
          </a:prstGeom>
        </p:spPr>
      </p:pic>
      <p:pic>
        <p:nvPicPr>
          <p:cNvPr id="19" name="Picture 18" descr="A black and blue face with orange circle">
            <a:extLst>
              <a:ext uri="{FF2B5EF4-FFF2-40B4-BE49-F238E27FC236}">
                <a16:creationId xmlns:a16="http://schemas.microsoft.com/office/drawing/2014/main" id="{10FB18EB-9C37-7712-FF9C-D375F83713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552921" y="0"/>
            <a:ext cx="1829807" cy="94904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F93C0F9-E025-4FE9-DE38-D4C3753323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697" y="349877"/>
            <a:ext cx="380590" cy="1198153"/>
          </a:xfrm>
          <a:prstGeom prst="rect">
            <a:avLst/>
          </a:prstGeom>
        </p:spPr>
      </p:pic>
      <p:pic>
        <p:nvPicPr>
          <p:cNvPr id="24" name="Picture 23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BD91D430-B961-1289-E32B-75821F55F2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8860" y="1767172"/>
            <a:ext cx="709513" cy="7151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01211B-4F4E-98B0-0279-6EA4B830F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kern="1200" dirty="0">
                <a:latin typeface="+mj-lt"/>
                <a:ea typeface="+mj-ea"/>
                <a:cs typeface="+mj-cs"/>
              </a:rPr>
              <a:t>H4 – AI Experience &amp; Ease of Interaction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87C0917-6C93-2B6F-958C-6FC920FA27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7238" y="2807208"/>
            <a:ext cx="3581135" cy="34112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Ease/low-frustration scores also differ by AI frequency – F(2,57) ≈ 6.01, p ≈ 0.004.”</a:t>
            </a:r>
          </a:p>
          <a:p>
            <a:pPr algn="just"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“Frequent users report smoother interactions and less frustration.”</a:t>
            </a:r>
          </a:p>
          <a:p>
            <a:pPr algn="just"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“No clear difference in Convenience (p ≈ 0.12).”</a:t>
            </a:r>
          </a:p>
        </p:txBody>
      </p:sp>
      <p:pic>
        <p:nvPicPr>
          <p:cNvPr id="33" name="Picture 32" descr="A close up of a stamp&#10;&#10;AI-generated content may be incorrect.">
            <a:extLst>
              <a:ext uri="{FF2B5EF4-FFF2-40B4-BE49-F238E27FC236}">
                <a16:creationId xmlns:a16="http://schemas.microsoft.com/office/drawing/2014/main" id="{6B34E621-E4B8-78B9-7F80-6A0F73AF5CB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0415" y="1439363"/>
            <a:ext cx="4584127" cy="45841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AB6C7E-B225-F1C6-6242-928A7691262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1863" y="1168733"/>
            <a:ext cx="45719" cy="4872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642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5062A3-3562-0243-1CCC-6ED20571E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600">
                <a:solidFill>
                  <a:srgbClr val="FFFFFF"/>
                </a:solidFill>
              </a:rPr>
              <a:t>What This Means for OmniAssist</a:t>
            </a:r>
          </a:p>
        </p:txBody>
      </p:sp>
      <p:graphicFrame>
        <p:nvGraphicFramePr>
          <p:cNvPr id="39" name="Title 1">
            <a:extLst>
              <a:ext uri="{FF2B5EF4-FFF2-40B4-BE49-F238E27FC236}">
                <a16:creationId xmlns:a16="http://schemas.microsoft.com/office/drawing/2014/main" id="{06A0135A-434A-7E75-A6E5-FBCF2EB19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9685864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8" name="Picture 37">
            <a:extLst>
              <a:ext uri="{FF2B5EF4-FFF2-40B4-BE49-F238E27FC236}">
                <a16:creationId xmlns:a16="http://schemas.microsoft.com/office/drawing/2014/main" id="{66202EA0-58D5-573D-567A-99B71A16BA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786" y="3994778"/>
            <a:ext cx="2513100" cy="25131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331553D3-C310-61AF-5C9C-483ED45E2DB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331" y="5539734"/>
            <a:ext cx="257143" cy="8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945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46F1F2C8-798B-4CCE-A851-94AFAF350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5A1192-C6C7-84AD-4772-FF5210FA5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908" y="1220919"/>
            <a:ext cx="5425781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DAA3D-838B-63AC-073D-6B61980C5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908" y="3700594"/>
            <a:ext cx="5850401" cy="165576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Thank you – we welcome your questions.</a:t>
            </a: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55E9CD0-04B0-4A3C-B291-AD913379C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DD8BF3B-6066-418C-8D1A-75C5E396F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Block Arc 38">
            <a:extLst>
              <a:ext uri="{FF2B5EF4-FFF2-40B4-BE49-F238E27FC236}">
                <a16:creationId xmlns:a16="http://schemas.microsoft.com/office/drawing/2014/main" id="{80BC66F9-7A74-4286-AD22-1174052CC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02394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D8142CC3-2B5C-48E6-9DF0-6C8ACBAF2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B2D303B-3DD0-4319-9EAD-361847FEC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6A89C79-8EF3-4AF9-B3D9-59A883F41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Arc 34">
            <a:extLst>
              <a:ext uri="{FF2B5EF4-FFF2-40B4-BE49-F238E27FC236}">
                <a16:creationId xmlns:a16="http://schemas.microsoft.com/office/drawing/2014/main" id="{EFE5CE34-4543-42E5-B82C-1F3D12422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72AF41FE-63D7-4695-81D2-66D2510E4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3486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226ECF-05A3-CFDE-B19A-5A3D3F058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Closing statement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0DC06-0F86-B2A8-58FD-F8E6E2E62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2286910"/>
            <a:ext cx="5911799" cy="2252865"/>
          </a:xfrm>
        </p:spPr>
        <p:txBody>
          <a:bodyPr>
            <a:normAutofit/>
          </a:bodyPr>
          <a:lstStyle/>
          <a:p>
            <a:pPr algn="just"/>
            <a:r>
              <a:rPr lang="en-US"/>
              <a:t>To maximize adoption, OmniAssist should design AI that feels trustworthy, smooth, and genuinely helpful from the first interaction, especially for new or hesitant users.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D03E3E-0B25-0621-AAD6-9850FBD284DE}"/>
              </a:ext>
            </a:extLst>
          </p:cNvPr>
          <p:cNvSpPr txBox="1"/>
          <p:nvPr/>
        </p:nvSpPr>
        <p:spPr>
          <a:xfrm>
            <a:off x="782216" y="6299660"/>
            <a:ext cx="1062756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ChatGPT 4o was used only to brainstorm themes and assist with structuring the presentation for the project </a:t>
            </a:r>
            <a:r>
              <a:rPr lang="en-US" sz="11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‘Public Attitudes Toward AI in Customer Service’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No AI-generated text or analysis appears in the final submitted slides. All content, interpretation, and visuals were produced and verified by the group.</a:t>
            </a:r>
            <a:r>
              <a:rPr lang="en-US" sz="1100" dirty="0"/>
              <a:t> Accessed: [2025-12-01]. Available at: https://chat.openai.com/.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4999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824</TotalTime>
  <Words>957</Words>
  <Application>Microsoft Office PowerPoint</Application>
  <PresentationFormat>Widescreen</PresentationFormat>
  <Paragraphs>119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Business Context &amp; Big Idea</vt:lpstr>
      <vt:lpstr>Research Question &amp; Hypotheses</vt:lpstr>
      <vt:lpstr>PowerPoint Presentation</vt:lpstr>
      <vt:lpstr>Overall Attitudes Toward AI (Means)</vt:lpstr>
      <vt:lpstr>How the Constructs Relate (Correlations)</vt:lpstr>
      <vt:lpstr>What Drives Preference for AI?</vt:lpstr>
      <vt:lpstr>H3 – Does Tech Comfort Change Attitudes? </vt:lpstr>
      <vt:lpstr>H4 – AI Experience Frequency &amp; Trust</vt:lpstr>
      <vt:lpstr>H4 – AI Experience &amp; Ease of Interaction</vt:lpstr>
      <vt:lpstr>What This Means for OmniAssist</vt:lpstr>
      <vt:lpstr>Q&amp;A</vt:lpstr>
      <vt:lpstr>Closing statement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GHADERI, Mohammadali</dc:creator>
  <cp:lastModifiedBy>GHADERI, Mohammadali</cp:lastModifiedBy>
  <cp:revision>32</cp:revision>
  <dcterms:created xsi:type="dcterms:W3CDTF">2025-11-30T14:34:49Z</dcterms:created>
  <dcterms:modified xsi:type="dcterms:W3CDTF">2025-12-03T07:41:24Z</dcterms:modified>
</cp:coreProperties>
</file>